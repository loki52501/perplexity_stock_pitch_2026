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hyperlink" Target="https://www.futuremarketinsights.com/reports/digital-forensics-market" TargetMode="External"/><Relationship Id="rId2" Type="http://schemas.openxmlformats.org/officeDocument/2006/relationships/hyperlink" Target="https://cellebrite.com/en/cellebrite-2026-industry-trends-report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hyperlink" Target="https://sam.gov" TargetMode="External"/><Relationship Id="rId2" Type="http://schemas.openxmlformats.org/officeDocument/2006/relationships/hyperlink" Target="https://www.apple.com/newsroom/2021/11/apple-sues-nso-group-to-curb-the-abuse-of-state-sponsored-spyware/" TargetMode="External"/><Relationship Id="rId3" Type="http://schemas.openxmlformats.org/officeDocument/2006/relationships/hyperlink" Target="https://www.reuters.com/technology/israels-cyber-sector-reaches-new-heights-2021-2022-01-18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hyperlink" Target="https://investors.cellebrite.com/events/event-details/morgan-stanley-technology-media-telecom-conference-2026" TargetMode="External"/><Relationship Id="rId2" Type="http://schemas.openxmlformats.org/officeDocument/2006/relationships/hyperlink" Target="https://cellebrite.com/en/resources/case-studie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hyperlink" Target="https://investors.cellebrite.com/news-releases/news-release-details/cellebrite-reports-fourth-quarter-and-full-year-2025-results" TargetMode="External"/><Relationship Id="rId2" Type="http://schemas.openxmlformats.org/officeDocument/2006/relationships/hyperlink" Target="https://investors.cellebrite.com/events/event-details/morgan-stanley-technology-media-telecom-conference-202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hyperlink" Target="https://investors.cellebrite.com/news-releases/news-release-details/cellebrite-reports-fourth-quarter-and-full-year-2025-result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hyperlink" Target="https://investors.cellebrite.com/news-releases/news-release-details/cellebrite-reports-fourth-quarter-and-full-year-2025-result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hyperlink" Target="https://www.streetinsider.com/Press+Releases/Cellebrite+Announces+300+Million+PIPE+Led+by+AXON+Enterprise+as+Part+of+SPAC+Merger/18372374.html" TargetMode="External"/><Relationship Id="rId2" Type="http://schemas.openxmlformats.org/officeDocument/2006/relationships/hyperlink" Target="https://www.axon.com/news/cellebrite-partnershi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hyperlink" Target="https://investors.cellebrite.com/events/event-details/morgan-stanley-technology-media-telecom-conference-2026" TargetMode="External"/><Relationship Id="rId2" Type="http://schemas.openxmlformats.org/officeDocument/2006/relationships/hyperlink" Target="https://investors.cellebrite.com/news-releases/news-release-details/cellebrite-reports-fourth-quarter-and-full-year-2025-result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hyperlink" Target="https://investors.cellebrite.com/news-releases/news-release-details/cellebrite-reports-fourth-quarter-and-full-year-2025-results" TargetMode="External"/><Relationship Id="rId2" Type="http://schemas.openxmlformats.org/officeDocument/2006/relationships/hyperlink" Target="https://cellebrite.com/en/cellebrite-2026-industry-trends-report/" TargetMode="External"/><Relationship Id="rId3" Type="http://schemas.openxmlformats.org/officeDocument/2006/relationships/hyperlink" Target="https://www.futuremarketinsights.com/reports/digital-forensics-market" TargetMode="External"/><Relationship Id="rId4" Type="http://schemas.openxmlformats.org/officeDocument/2006/relationships/hyperlink" Target="https://investors.cellebrite.com/events/event-details/morgan-stanley-technology-media-telecom-conference-2026" TargetMode="External"/><Relationship Id="rId5" Type="http://schemas.openxmlformats.org/officeDocument/2006/relationships/hyperlink" Target="https://www.streetinsider.com/Press+Releases/Cellebrite+Announces+300+Million+PIPE+Led+by+AXON+Enterprise+as+Part+of+SPAC+Merger/18372374.html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E L L E B R I T E   D I   L T D 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 Is Using the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Wrong Mental Model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1274552" cy="27432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1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prices Cellebrite as a declining Israeli hardware vendor in a competitive market. It is actually a regulated-vertical platform monopoly with 84% gross margins, zero competitive losses, and structural barriers that block every Big Tech company from entering.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NASDAQ: CLBT  |  $14.00  |  Mkt Cap $3.5B  |  BUY  |  PT $21.56 (+54%, probability-weighted)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2148840" cy="1280160"/>
          </a:xfrm>
          <a:prstGeom prst="rect">
            <a:avLst/>
          </a:prstGeom>
          <a:solidFill>
            <a:srgbClr val="0C4E54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6.3x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EV/NTM Revenue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8.1x peer median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34056" y="3474720"/>
            <a:ext cx="2148840" cy="1280160"/>
          </a:xfrm>
          <a:prstGeom prst="rect">
            <a:avLst/>
          </a:prstGeom>
          <a:solidFill>
            <a:srgbClr val="0C4E54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34056" y="3566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34056" y="4114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40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34056" y="4434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in comp set, growth-tilted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10912" y="3474720"/>
            <a:ext cx="2148840" cy="1280160"/>
          </a:xfrm>
          <a:prstGeom prst="rect">
            <a:avLst/>
          </a:prstGeom>
          <a:solidFill>
            <a:srgbClr val="0C4E54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3566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10912" y="4114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10912" y="4434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 comp set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87768" y="3474720"/>
            <a:ext cx="2148840" cy="1280160"/>
          </a:xfrm>
          <a:prstGeom prst="rect">
            <a:avLst/>
          </a:prstGeom>
          <a:solidFill>
            <a:srgbClr val="0C4E54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7768" y="3566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287768" y="4114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Margin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87768" y="4434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$160M FY2025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3474720"/>
            <a:ext cx="2148840" cy="1280160"/>
          </a:xfrm>
          <a:prstGeom prst="rect">
            <a:avLst/>
          </a:prstGeom>
          <a:solidFill>
            <a:srgbClr val="0C4E54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64624" y="35661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564624" y="41148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Coverage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564624" y="44348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Israeli small-cap, limited float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Institutional Stock Pitch  |  This is research and analysis only, not personalized financial advice.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Evidence Is the New DNA: A $46B Market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$46.1B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 by 2036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 CAGR from $15.7B in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investigators cite smartphones as #1 evidence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24pp from 2024 (n=1,200 across 63 countries)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69%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lack time to handle caseloads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66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say backlogs climbed in the past year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92240" y="1005840"/>
            <a:ext cx="5029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097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Forensics Market TAM ($B)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4033674"/>
            <a:ext cx="1051560" cy="355446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83250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44348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$5.6B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0" y="3392603"/>
            <a:ext cx="1051560" cy="996517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191435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$15.7B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4348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$15.7B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601200" y="2649975"/>
            <a:ext cx="1051560" cy="1739145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2448807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$27.4B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0" y="44348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$27.4B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972800" y="1463040"/>
            <a:ext cx="1051560" cy="292608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0" y="126187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$46.1B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44348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2036E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$46.1B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Future Market Insights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Cellebrite 2026 Industry Report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Duopoly Big Tech Cannot Enter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1274552" cy="27432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520440" cy="1645920"/>
          </a:xfrm>
          <a:prstGeom prst="rect">
            <a:avLst/>
          </a:prstGeom>
          <a:solidFill>
            <a:srgbClr val="0C4E54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displacements in 64 contracts (3 years)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public procurement records analysis (SAM.gov, USASpending.gov) — directionally strong, not audited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51960" y="914400"/>
            <a:ext cx="3520440" cy="1645920"/>
          </a:xfrm>
          <a:prstGeom prst="rect">
            <a:avLst/>
          </a:prstGeom>
          <a:solidFill>
            <a:srgbClr val="0C4E54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9601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8.7x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251960" y="1600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Cellebrite vs. Magnet spend ratio ($60.2M vs $6.9M)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2057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wallet share in 8 dual-vendor agencies — independently observable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46720" y="914400"/>
            <a:ext cx="3520440" cy="1645920"/>
          </a:xfrm>
          <a:prstGeom prst="rect">
            <a:avLst/>
          </a:prstGeom>
          <a:solidFill>
            <a:srgbClr val="0C4E54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9601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046720" y="16002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share in every dual-vendor agency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2057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evidence: Q4 2025 earnings call: "no competitive displacement"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Structural Barriers Preventing Big Tech Entry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2148840" cy="2743200"/>
          </a:xfrm>
          <a:prstGeom prst="rect">
            <a:avLst/>
          </a:prstGeom>
          <a:solidFill>
            <a:srgbClr val="142230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175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" y="327355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Conflict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1965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tools exploit OS vulnerabilities Apple/Google spend billions to fix. Apple sued NSO Group.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2971800"/>
            <a:ext cx="2148840" cy="2743200"/>
          </a:xfrm>
          <a:prstGeom prst="rect">
            <a:avLst/>
          </a:prstGeom>
          <a:solidFill>
            <a:srgbClr val="142230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30175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0" y="327355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Reputational Risk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3749040"/>
            <a:ext cx="1965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Pegasus scandal contaminated "surveillance tool" category for ESG-conscious multinationals.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2971800"/>
            <a:ext cx="2148840" cy="2743200"/>
          </a:xfrm>
          <a:prstGeom prst="rect">
            <a:avLst/>
          </a:prstGeom>
          <a:solidFill>
            <a:srgbClr val="142230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0175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1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29200" y="327355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Controls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3749040"/>
            <a:ext cx="1965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Wassenaar Arrangement favors Israel's liberalized export regime over U.S. multinationals.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2971800"/>
            <a:ext cx="2148840" cy="2743200"/>
          </a:xfrm>
          <a:prstGeom prst="rect">
            <a:avLst/>
          </a:prstGeom>
          <a:solidFill>
            <a:srgbClr val="142230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30175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315200" y="327355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Size Floor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3749040"/>
            <a:ext cx="1965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~$5B today. Big Tech ignores markets below $10–20B threshold.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601200" y="2971800"/>
            <a:ext cx="2148840" cy="2743200"/>
          </a:xfrm>
          <a:prstGeom prst="rect">
            <a:avLst/>
          </a:prstGeom>
          <a:solidFill>
            <a:srgbClr val="142230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0" y="30175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DECAYING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601200" y="3273552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 Concentration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92640" y="3749040"/>
            <a:ext cx="1965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Israeli cybersecurity founders have Unit 8200 experience. Hard to replicate.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Sources: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Procurement Analysis (SAM.gov/USASpending.gov)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Apple v. NSO Group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Reuters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 Is the Moat, Not the Device Unlock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52044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080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520440" cy="594360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WEDGE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UFED device unlock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391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→ first foot in door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7802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35,000+ device profiles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91693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Best-in-class iOS/Android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extraction capabilities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95928" y="2606040"/>
            <a:ext cx="237744" cy="365760"/>
          </a:xfrm>
          <a:prstGeom prst="rightArrow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914400"/>
            <a:ext cx="352044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169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914400"/>
            <a:ext cx="3520440" cy="59436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960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PLATFORM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89120" y="16002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Inseyets SaaS migration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20391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55% converted (80%+ target)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0" y="247802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Pathfinder analytics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291693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Guardian evidence cloud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335584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10% ARR uplift per convert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90688" y="2606040"/>
            <a:ext cx="237744" cy="365760"/>
          </a:xfrm>
          <a:prstGeom prst="rightArrow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914400"/>
            <a:ext cx="352044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C4E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914400"/>
            <a:ext cx="3520440" cy="59436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960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LOCK-IN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183880" y="16002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"Cellebrite" used as a verb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203911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Agency workflows rebuilt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83880" y="247802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Axon Evidence integration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83880" y="2916936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$228K/yr switching cost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83880" y="335584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displacements in 3 yrs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074920"/>
            <a:ext cx="3520440" cy="822960"/>
          </a:xfrm>
          <a:prstGeom prst="rect">
            <a:avLst/>
          </a:prstGeom>
          <a:solidFill>
            <a:srgbClr val="EBF5F6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0932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55%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7200" y="54406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base converted to Inseyets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566928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25–30pp runway remaining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51960" y="5074920"/>
            <a:ext cx="3520440" cy="822960"/>
          </a:xfrm>
          <a:prstGeom prst="rect">
            <a:avLst/>
          </a:prstGeom>
          <a:solidFill>
            <a:srgbClr val="EBF5F6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1960" y="50932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2.5x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251960" y="54406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vs. non-SaaS growth differential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51960" y="566928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mix rising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46720" y="5074920"/>
            <a:ext cx="3520440" cy="822960"/>
          </a:xfrm>
          <a:prstGeom prst="rect">
            <a:avLst/>
          </a:prstGeom>
          <a:solidFill>
            <a:srgbClr val="EBF5F6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0" y="50932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14%→20%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046720" y="54406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ARR mix growing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566928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SaaS/cloud ARR +50%+ YoY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Morgan Stanley Conference March 2026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Cellebrite Inseyets ROI Study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SaaS Transformation Is Inflecting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256032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822960"/>
            <a:ext cx="137160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8229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822960"/>
            <a:ext cx="137160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8229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822960"/>
            <a:ext cx="137160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8229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822960"/>
            <a:ext cx="182880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8229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0" y="822960"/>
            <a:ext cx="15544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8229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FY2026E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152144"/>
            <a:ext cx="2560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1521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($M)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0" y="1152144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11521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0" y="1152144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1521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1152144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11521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40880" y="1152144"/>
            <a:ext cx="1828800" cy="329184"/>
          </a:xfrm>
          <a:prstGeom prst="rect">
            <a:avLst/>
          </a:prstGeom>
          <a:solidFill>
            <a:srgbClr val="E6F5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1521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869680" y="1152144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0" y="115214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$565–571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1481328"/>
            <a:ext cx="256032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4813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($M)*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0" y="1481328"/>
            <a:ext cx="137160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14813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97680" y="1481328"/>
            <a:ext cx="137160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14813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0" y="1481328"/>
            <a:ext cx="137160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14813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$396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040880" y="1481328"/>
            <a:ext cx="1828800" cy="329184"/>
          </a:xfrm>
          <a:prstGeom prst="rect">
            <a:avLst/>
          </a:prstGeom>
          <a:solidFill>
            <a:srgbClr val="E6F5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148132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869680" y="1481328"/>
            <a:ext cx="15544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148132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$567–573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1810512"/>
            <a:ext cx="2560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18105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Growth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926080" y="1810512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0" y="181051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97680" y="1810512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0" y="181051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0" y="1810512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181051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040880" y="1810512"/>
            <a:ext cx="1828800" cy="329184"/>
          </a:xfrm>
          <a:prstGeom prst="rect">
            <a:avLst/>
          </a:prstGeom>
          <a:solidFill>
            <a:srgbClr val="E6F5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18105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 total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organic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869680" y="1810512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0" y="181051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+19–20%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2139696"/>
            <a:ext cx="256032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21396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% of Total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26080" y="2139696"/>
            <a:ext cx="137160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0" y="21396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297680" y="2139696"/>
            <a:ext cx="137160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97680" y="21396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669280" y="2139696"/>
            <a:ext cx="137160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0" y="21396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040880" y="2139696"/>
            <a:ext cx="1828800" cy="329184"/>
          </a:xfrm>
          <a:prstGeom prst="rect">
            <a:avLst/>
          </a:prstGeom>
          <a:solidFill>
            <a:srgbClr val="E6F5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40880" y="21396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869680" y="2139696"/>
            <a:ext cx="15544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69680" y="213969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~91%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65760" y="2468880"/>
            <a:ext cx="2560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24688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926080" y="246888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26080" y="24688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297680" y="246888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97680" y="24688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669280" y="2468880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4688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040880" y="2468880"/>
            <a:ext cx="1828800" cy="329184"/>
          </a:xfrm>
          <a:prstGeom prst="rect">
            <a:avLst/>
          </a:prstGeom>
          <a:solidFill>
            <a:srgbClr val="E6F5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40880" y="24688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869680" y="2468880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869680" y="246888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" y="2798064"/>
            <a:ext cx="256032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279806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926080" y="2798064"/>
            <a:ext cx="137160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26080" y="27980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4297680" y="2798064"/>
            <a:ext cx="137160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97680" y="27980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~18%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669280" y="2798064"/>
            <a:ext cx="137160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69280" y="27980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~24%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040880" y="2798064"/>
            <a:ext cx="1828800" cy="329184"/>
          </a:xfrm>
          <a:prstGeom prst="rect">
            <a:avLst/>
          </a:prstGeom>
          <a:solidFill>
            <a:srgbClr val="E6F5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040880" y="27980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26.8%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869680" y="2798064"/>
            <a:ext cx="15544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869680" y="279806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26–27%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65760" y="3127248"/>
            <a:ext cx="25603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5760" y="312724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($M) / Margin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926080" y="3127248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926080" y="31272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 / 5%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297680" y="3127248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297680" y="31272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 / 30%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669280" y="3127248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669280" y="31272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$124 / 31%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7040880" y="3127248"/>
            <a:ext cx="1828800" cy="329184"/>
          </a:xfrm>
          <a:prstGeom prst="rect">
            <a:avLst/>
          </a:prstGeom>
          <a:solidFill>
            <a:srgbClr val="E6F5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040880" y="31272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 / 34%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8869680" y="3127248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869680" y="3127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365760" y="3456432"/>
            <a:ext cx="256032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65760" y="345643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926080" y="3456432"/>
            <a:ext cx="137160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926080" y="34564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130%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4297680" y="3456432"/>
            <a:ext cx="137160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297680" y="34564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125%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5669280" y="3456432"/>
            <a:ext cx="137160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669280" y="34564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124%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7040880" y="3456432"/>
            <a:ext cx="1828800" cy="329184"/>
          </a:xfrm>
          <a:prstGeom prst="rect">
            <a:avLst/>
          </a:prstGeom>
          <a:solidFill>
            <a:srgbClr val="E6F5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040880" y="34564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116%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8869680" y="3456432"/>
            <a:ext cx="15544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869680" y="34564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365760" y="365760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*FY2025 ARR: 21% total, 17% organic (ex-Corellium $16.1M, closed Dec 2025). Forward projections anchored in 17% organic rate.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365760" y="3977640"/>
            <a:ext cx="10515600" cy="731520"/>
          </a:xfrm>
          <a:prstGeom prst="rect">
            <a:avLst/>
          </a:prstGeom>
          <a:solidFill>
            <a:srgbClr val="FFF8E1"/>
          </a:solidFill>
          <a:ln w="19050">
            <a:solidFill>
              <a:srgbClr val="D199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02920" y="4005072"/>
            <a:ext cx="10241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130%→116% is a DENOMINATOR EFFECT, not churn. Base ARR grew 2.6x while absolute expansion dollars INCREASED ($68M→$85M). Gross retention 91%→93%. Net-new ARR in Q4 2025 returned to prior-year levels.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365760" y="4800600"/>
            <a:ext cx="5120640" cy="59436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65760" y="48188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 grew 11x: $14M→$160M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FY2022 to FY2025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5715000" y="4800600"/>
            <a:ext cx="5120640" cy="594360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715000" y="481888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SaaS/cloud ARR grew 50%+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22% of total ARR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365760" y="64465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Cellebrite Q4 2025 Press Release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Morgan Stanley Conference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→ FCF Bridge (FY2025 Actual)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4114800" cy="33375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41148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 Item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480560" y="822960"/>
            <a:ext cx="1463040" cy="33375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822960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Amount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822960"/>
            <a:ext cx="1371600" cy="33375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822960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 of Rev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156716"/>
            <a:ext cx="4114800" cy="333756"/>
          </a:xfrm>
          <a:prstGeom prst="rect">
            <a:avLst/>
          </a:prstGeom>
          <a:solidFill>
            <a:srgbClr val="F0F8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56716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156716"/>
            <a:ext cx="1463040" cy="333756"/>
          </a:xfrm>
          <a:prstGeom prst="rect">
            <a:avLst/>
          </a:prstGeom>
          <a:solidFill>
            <a:srgbClr val="F0F8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156716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+$476M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156716"/>
            <a:ext cx="1371600" cy="333756"/>
          </a:xfrm>
          <a:prstGeom prst="rect">
            <a:avLst/>
          </a:prstGeom>
          <a:solidFill>
            <a:srgbClr val="F0F8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156716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490472"/>
            <a:ext cx="4114800" cy="33375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490472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COGS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1490472"/>
            <a:ext cx="1463040" cy="33375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490472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-$76M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0" y="1490472"/>
            <a:ext cx="1371600" cy="33375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490472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1824228"/>
            <a:ext cx="4114800" cy="333756"/>
          </a:xfrm>
          <a:prstGeom prst="rect">
            <a:avLst/>
          </a:prstGeom>
          <a:solidFill>
            <a:srgbClr val="F0F8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824228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Gross Profit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1824228"/>
            <a:ext cx="1463040" cy="333756"/>
          </a:xfrm>
          <a:prstGeom prst="rect">
            <a:avLst/>
          </a:prstGeom>
          <a:solidFill>
            <a:srgbClr val="F0F8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1824228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1824228"/>
            <a:ext cx="1371600" cy="333756"/>
          </a:xfrm>
          <a:prstGeom prst="rect">
            <a:avLst/>
          </a:prstGeom>
          <a:solidFill>
            <a:srgbClr val="F0F8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824228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157984"/>
            <a:ext cx="4114800" cy="33375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157984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R&amp;D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2157984"/>
            <a:ext cx="1463040" cy="33375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2157984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-$114M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0" y="2157984"/>
            <a:ext cx="1371600" cy="33375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157984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2491740"/>
            <a:ext cx="411480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491740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SG&amp;A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80560" y="2491740"/>
            <a:ext cx="146304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2491740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-$148M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0" y="2491740"/>
            <a:ext cx="137160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2491740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2825496"/>
            <a:ext cx="4114800" cy="33375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825496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SBC (non-cash)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80560" y="2825496"/>
            <a:ext cx="1463040" cy="33375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2825496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-$45M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43600" y="2825496"/>
            <a:ext cx="1371600" cy="33375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2825496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159252"/>
            <a:ext cx="411480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159252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D&amp;A (non-cash)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480560" y="3159252"/>
            <a:ext cx="146304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80560" y="3159252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-$28M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43600" y="3159252"/>
            <a:ext cx="137160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0" y="3159252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3493008"/>
            <a:ext cx="4114800" cy="333756"/>
          </a:xfrm>
          <a:prstGeom prst="rect">
            <a:avLst/>
          </a:prstGeom>
          <a:solidFill>
            <a:srgbClr val="F0F8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493008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GAAP Op. Income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480560" y="3493008"/>
            <a:ext cx="1463040" cy="333756"/>
          </a:xfrm>
          <a:prstGeom prst="rect">
            <a:avLst/>
          </a:prstGeom>
          <a:solidFill>
            <a:srgbClr val="F0F8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80560" y="3493008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943600" y="3493008"/>
            <a:ext cx="1371600" cy="333756"/>
          </a:xfrm>
          <a:prstGeom prst="rect">
            <a:avLst/>
          </a:prstGeom>
          <a:solidFill>
            <a:srgbClr val="F0F8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0" y="3493008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3826764"/>
            <a:ext cx="411480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3826764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SBC add-back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480560" y="3826764"/>
            <a:ext cx="146304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80560" y="3826764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+$45M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943600" y="3826764"/>
            <a:ext cx="137160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0" y="3826764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65760" y="4160520"/>
            <a:ext cx="4114800" cy="33375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160520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D&amp;A add-back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480560" y="4160520"/>
            <a:ext cx="1463040" cy="33375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4160520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+$28M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943600" y="4160520"/>
            <a:ext cx="1371600" cy="33375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43600" y="4160520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65760" y="4494276"/>
            <a:ext cx="411480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494276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Working Capital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480560" y="4494276"/>
            <a:ext cx="146304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80560" y="4494276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+$30M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943600" y="4494276"/>
            <a:ext cx="137160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43600" y="4494276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" y="4828032"/>
            <a:ext cx="4114800" cy="333756"/>
          </a:xfrm>
          <a:prstGeom prst="rect">
            <a:avLst/>
          </a:prstGeom>
          <a:solidFill>
            <a:srgbClr val="F0F8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4828032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Cash from Ops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480560" y="4828032"/>
            <a:ext cx="1463040" cy="333756"/>
          </a:xfrm>
          <a:prstGeom prst="rect">
            <a:avLst/>
          </a:prstGeom>
          <a:solidFill>
            <a:srgbClr val="F0F8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480560" y="4828032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$168M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943600" y="4828032"/>
            <a:ext cx="1371600" cy="333756"/>
          </a:xfrm>
          <a:prstGeom prst="rect">
            <a:avLst/>
          </a:prstGeom>
          <a:solidFill>
            <a:srgbClr val="F0F8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43600" y="4828032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65760" y="5161788"/>
            <a:ext cx="411480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5161788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Capex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480560" y="5161788"/>
            <a:ext cx="146304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80560" y="5161788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-$8M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943600" y="5161788"/>
            <a:ext cx="1371600" cy="33375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43600" y="5161788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65760" y="5495544"/>
            <a:ext cx="4114800" cy="333756"/>
          </a:xfrm>
          <a:prstGeom prst="rect">
            <a:avLst/>
          </a:prstGeom>
          <a:solidFill>
            <a:srgbClr val="E0F5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57200" y="5495544"/>
            <a:ext cx="39319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Free Cash Flow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480560" y="5495544"/>
            <a:ext cx="1463040" cy="333756"/>
          </a:xfrm>
          <a:prstGeom prst="rect">
            <a:avLst/>
          </a:prstGeom>
          <a:solidFill>
            <a:srgbClr val="E0F5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80560" y="5495544"/>
            <a:ext cx="14630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$160M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943600" y="5495544"/>
            <a:ext cx="1371600" cy="333756"/>
          </a:xfrm>
          <a:prstGeom prst="rect">
            <a:avLst/>
          </a:prstGeom>
          <a:solidFill>
            <a:srgbClr val="E0F5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43600" y="5495544"/>
            <a:ext cx="137160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722376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Projection Assumptions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457200" y="1170432"/>
            <a:ext cx="11274552" cy="27432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223760" y="123444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360920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Growth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941832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19%→15%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7360920" y="15819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Decel 1pp/yr vs 21% historical avg.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223760" y="1993392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360920" y="2039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9418320" y="20391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84%→85%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7360920" y="23408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Flat: 4-yr avg 81–84%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223760" y="2752344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36092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SG&amp;A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9418320" y="27980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31%→25.5%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7360920" y="309981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3.5pp more over 3 yrs, slower than history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223760" y="3511296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360920" y="3557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R&amp;D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9418320" y="35570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~23.5% flat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7360920" y="3858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leverage assumed — arms race continues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223760" y="4270248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360920" y="4315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Capex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9418320" y="43159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1.5–1.8%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7360920" y="4617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4-yr avg 1.6%. Asset-light SaaS model.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7223760" y="5029200"/>
            <a:ext cx="4480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360920" y="5074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Dilution (Base)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9418320" y="5074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4–5% / yr</a:t>
            </a:r>
            <a:endParaRPr lang="en-US" sz="1000" dirty="0"/>
          </a:p>
        </p:txBody>
      </p:sp>
      <p:sp>
        <p:nvSpPr>
          <p:cNvPr id="119" name="Text 117"/>
          <p:cNvSpPr/>
          <p:nvPr/>
        </p:nvSpPr>
        <p:spPr>
          <a:xfrm>
            <a:off x="7360920" y="53766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7–8%. SPAC warrants fully exercised.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365760" y="64465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Cellebrite Q4 2025 Press Release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Projected FCF Bridge  FY2025A – FY2030E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77240"/>
            <a:ext cx="2103120" cy="31089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 Item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77440" y="777240"/>
            <a:ext cx="914400" cy="31089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77724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FY2025A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777240"/>
            <a:ext cx="960120" cy="31089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77724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FY2026E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51960" y="777240"/>
            <a:ext cx="960120" cy="31089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77724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FY2027E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12080" y="777240"/>
            <a:ext cx="960120" cy="31089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77724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FY2028E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777240"/>
            <a:ext cx="960120" cy="31089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77724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FY2029E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0" y="777240"/>
            <a:ext cx="960120" cy="31089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77724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FY2030E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92440" y="777240"/>
            <a:ext cx="2103120" cy="310896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77724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088136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0881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77440" y="108813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108813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$476M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108813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108813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$566M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51960" y="108813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108813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$668M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12080" y="108813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108813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$782M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108813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08813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$907M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32320" y="108813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08813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$1,043M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92440" y="1088136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108813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to 15% decel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1399032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139903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COGS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377440" y="1399032"/>
            <a:ext cx="91440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139903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-$76M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91840" y="1399032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139903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-$88M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251960" y="1399032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51960" y="139903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-$100M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212080" y="1399032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139903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-$117M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72200" y="1399032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139903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-$136M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132320" y="1399032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32320" y="139903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-$156M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092440" y="1399032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92440" y="139903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to 15%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1709928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17099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Gross Profit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377440" y="1709928"/>
            <a:ext cx="91440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77440" y="170992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91840" y="1709928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0" y="17099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$478M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251960" y="1709928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51960" y="17099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$568M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212080" y="1709928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2080" y="17099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$665M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72200" y="1709928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200" y="17099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$771M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132320" y="1709928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0" y="170992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$887M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092440" y="1709928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92440" y="17099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to 85%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74320" y="2020824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202082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R&amp;D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377440" y="2020824"/>
            <a:ext cx="91440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377440" y="202082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-$114M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291840" y="2020824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91840" y="202082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-$133M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251960" y="2020824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51960" y="202082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-$157M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212080" y="2020824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12080" y="202082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-$180M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172200" y="2020824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72200" y="202082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-$209M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132320" y="2020824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132320" y="202082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-$235M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092440" y="2020824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92440" y="202082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~23–23.5%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74320" y="2331720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23317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SG&amp;A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377440" y="23317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377440" y="23317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-$148M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3291840" y="233172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91840" y="233172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-$167M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251960" y="233172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251960" y="233172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-$190M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212080" y="233172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212080" y="233172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-$215M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172200" y="233172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72200" y="233172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-$240M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132320" y="233172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132320" y="233172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-$266M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8092440" y="2331720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092440" y="233172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to 25.5%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274320" y="2642616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74320" y="264261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SBC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377440" y="2642616"/>
            <a:ext cx="91440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377440" y="264261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-$45M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3291840" y="2642616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291840" y="264261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-$53M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251960" y="2642616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51960" y="264261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-$63M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5212080" y="2642616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212080" y="264261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-$74M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6172200" y="2642616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172200" y="264261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-$86M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7132320" y="2642616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132320" y="264261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-$99M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8092440" y="2642616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092440" y="264261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9.4–9.5%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274320" y="2953512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74320" y="295351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D&amp;A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2377440" y="29535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377440" y="295351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-$28M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3291840" y="2953512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291840" y="295351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-$31M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4251960" y="2953512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51960" y="295351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-$35M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5212080" y="2953512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212080" y="295351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-$39M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6172200" y="2953512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72200" y="295351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-$44M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7132320" y="2953512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132320" y="295351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-$48M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8092440" y="2953512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092440" y="295351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 to 4.6%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274320" y="3264408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74320" y="32644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GAAP Op Income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2377440" y="3264408"/>
            <a:ext cx="91440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377440" y="32644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$65M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3291840" y="3264408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291840" y="326440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$94M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4251960" y="3264408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4251960" y="326440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$123M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5212080" y="3264408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5212080" y="326440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$157M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6172200" y="3264408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172200" y="326440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$192M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7132320" y="3264408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132320" y="326440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$239M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8092440" y="3264408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8092440" y="32644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to 23%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274320" y="3575304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74320" y="35753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SBC add-back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2377440" y="35753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377440" y="357530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+$45M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3291840" y="3575304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291840" y="357530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+$53M</a:t>
            </a:r>
            <a:endParaRPr lang="en-US" sz="850" dirty="0"/>
          </a:p>
        </p:txBody>
      </p:sp>
      <p:sp>
        <p:nvSpPr>
          <p:cNvPr id="154" name="Shape 152"/>
          <p:cNvSpPr/>
          <p:nvPr/>
        </p:nvSpPr>
        <p:spPr>
          <a:xfrm>
            <a:off x="4251960" y="3575304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251960" y="357530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+$63M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5212080" y="3575304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5212080" y="357530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+$74M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6172200" y="3575304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172200" y="357530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+$86M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7132320" y="3575304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132320" y="357530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+$99M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8092440" y="3575304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8092440" y="35753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Non-cash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274320" y="3886200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274320" y="38862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D&amp;A add-back</a:t>
            </a:r>
            <a:endParaRPr lang="en-US" sz="850" dirty="0"/>
          </a:p>
        </p:txBody>
      </p:sp>
      <p:sp>
        <p:nvSpPr>
          <p:cNvPr id="166" name="Shape 164"/>
          <p:cNvSpPr/>
          <p:nvPr/>
        </p:nvSpPr>
        <p:spPr>
          <a:xfrm>
            <a:off x="2377440" y="3886200"/>
            <a:ext cx="91440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2377440" y="388620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+$28M</a:t>
            </a:r>
            <a:endParaRPr lang="en-US" sz="850" dirty="0"/>
          </a:p>
        </p:txBody>
      </p:sp>
      <p:sp>
        <p:nvSpPr>
          <p:cNvPr id="168" name="Shape 166"/>
          <p:cNvSpPr/>
          <p:nvPr/>
        </p:nvSpPr>
        <p:spPr>
          <a:xfrm>
            <a:off x="3291840" y="3886200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291840" y="38862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+$31M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4251960" y="3886200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251960" y="38862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+$35M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5212080" y="3886200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5212080" y="38862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+$39M</a:t>
            </a:r>
            <a:endParaRPr lang="en-US" sz="850" dirty="0"/>
          </a:p>
        </p:txBody>
      </p:sp>
      <p:sp>
        <p:nvSpPr>
          <p:cNvPr id="174" name="Shape 172"/>
          <p:cNvSpPr/>
          <p:nvPr/>
        </p:nvSpPr>
        <p:spPr>
          <a:xfrm>
            <a:off x="6172200" y="3886200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6172200" y="38862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+$44M</a:t>
            </a:r>
            <a:endParaRPr lang="en-US" sz="850" dirty="0"/>
          </a:p>
        </p:txBody>
      </p:sp>
      <p:sp>
        <p:nvSpPr>
          <p:cNvPr id="176" name="Shape 174"/>
          <p:cNvSpPr/>
          <p:nvPr/>
        </p:nvSpPr>
        <p:spPr>
          <a:xfrm>
            <a:off x="7132320" y="3886200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7132320" y="38862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+$48M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8092440" y="3886200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8092440" y="388620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Non-cash</a:t>
            </a:r>
            <a:endParaRPr lang="en-US" sz="850" dirty="0"/>
          </a:p>
        </p:txBody>
      </p:sp>
      <p:sp>
        <p:nvSpPr>
          <p:cNvPr id="180" name="Shape 178"/>
          <p:cNvSpPr/>
          <p:nvPr/>
        </p:nvSpPr>
        <p:spPr>
          <a:xfrm>
            <a:off x="274320" y="4197096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74320" y="419709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Working Capital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377440" y="41970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377440" y="419709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+$30M</a:t>
            </a:r>
            <a:endParaRPr 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3291840" y="4197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291840" y="419709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+$23M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4251960" y="4197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251960" y="419709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+$23M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5212080" y="4197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5212080" y="419709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+$23M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6172200" y="4197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172200" y="419709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+$23M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7132320" y="4197096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132320" y="419709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+$21M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8092440" y="4197096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8092440" y="419709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2–4% of rev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274320" y="4507992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274320" y="450799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Cash from Ops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2377440" y="4507992"/>
            <a:ext cx="91440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2377440" y="450799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$168M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3291840" y="4507992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3291840" y="450799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$201M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4251960" y="4507992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251960" y="450799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$244M</a:t>
            </a:r>
            <a:endParaRPr lang="en-US" sz="850" dirty="0"/>
          </a:p>
        </p:txBody>
      </p:sp>
      <p:sp>
        <p:nvSpPr>
          <p:cNvPr id="204" name="Shape 202"/>
          <p:cNvSpPr/>
          <p:nvPr/>
        </p:nvSpPr>
        <p:spPr>
          <a:xfrm>
            <a:off x="5212080" y="4507992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5212080" y="450799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$293M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6172200" y="4507992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6172200" y="450799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$345M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132320" y="4507992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7132320" y="450799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$407M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8092440" y="4507992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8092440" y="450799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to 39%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274320" y="4818888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274320" y="481888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Capex</a:t>
            </a:r>
            <a:endParaRPr lang="en-US" sz="850" dirty="0"/>
          </a:p>
        </p:txBody>
      </p:sp>
      <p:sp>
        <p:nvSpPr>
          <p:cNvPr id="214" name="Shape 212"/>
          <p:cNvSpPr/>
          <p:nvPr/>
        </p:nvSpPr>
        <p:spPr>
          <a:xfrm>
            <a:off x="2377440" y="481888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2377440" y="481888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-$8M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3291840" y="4818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3291840" y="481888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-$10M</a:t>
            </a:r>
            <a:endParaRPr lang="en-US" sz="850" dirty="0"/>
          </a:p>
        </p:txBody>
      </p:sp>
      <p:sp>
        <p:nvSpPr>
          <p:cNvPr id="218" name="Shape 216"/>
          <p:cNvSpPr/>
          <p:nvPr/>
        </p:nvSpPr>
        <p:spPr>
          <a:xfrm>
            <a:off x="4251960" y="4818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4251960" y="481888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-$11M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5212080" y="4818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5212080" y="481888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-$13M</a:t>
            </a:r>
            <a:endParaRPr lang="en-US" sz="850" dirty="0"/>
          </a:p>
        </p:txBody>
      </p:sp>
      <p:sp>
        <p:nvSpPr>
          <p:cNvPr id="222" name="Shape 220"/>
          <p:cNvSpPr/>
          <p:nvPr/>
        </p:nvSpPr>
        <p:spPr>
          <a:xfrm>
            <a:off x="6172200" y="4818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6172200" y="481888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-$14M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7132320" y="4818888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7132320" y="4818888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-$16M</a:t>
            </a:r>
            <a:endParaRPr lang="en-US" sz="850" dirty="0"/>
          </a:p>
        </p:txBody>
      </p:sp>
      <p:sp>
        <p:nvSpPr>
          <p:cNvPr id="226" name="Shape 224"/>
          <p:cNvSpPr/>
          <p:nvPr/>
        </p:nvSpPr>
        <p:spPr>
          <a:xfrm>
            <a:off x="8092440" y="4818888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8092440" y="481888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1.5–1.8%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274320" y="5129784"/>
            <a:ext cx="2103120" cy="310896"/>
          </a:xfrm>
          <a:prstGeom prst="rect">
            <a:avLst/>
          </a:prstGeom>
          <a:solidFill>
            <a:srgbClr val="CC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274320" y="512978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FCF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2377440" y="5129784"/>
            <a:ext cx="914400" cy="310896"/>
          </a:xfrm>
          <a:prstGeom prst="rect">
            <a:avLst/>
          </a:prstGeom>
          <a:solidFill>
            <a:srgbClr val="CC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2377440" y="512978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$160M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3291840" y="5129784"/>
            <a:ext cx="960120" cy="310896"/>
          </a:xfrm>
          <a:prstGeom prst="rect">
            <a:avLst/>
          </a:prstGeom>
          <a:solidFill>
            <a:srgbClr val="CC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3291840" y="512978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$191M</a:t>
            </a:r>
            <a:endParaRPr lang="en-US" sz="850" dirty="0"/>
          </a:p>
        </p:txBody>
      </p:sp>
      <p:sp>
        <p:nvSpPr>
          <p:cNvPr id="234" name="Shape 232"/>
          <p:cNvSpPr/>
          <p:nvPr/>
        </p:nvSpPr>
        <p:spPr>
          <a:xfrm>
            <a:off x="4251960" y="5129784"/>
            <a:ext cx="960120" cy="310896"/>
          </a:xfrm>
          <a:prstGeom prst="rect">
            <a:avLst/>
          </a:prstGeom>
          <a:solidFill>
            <a:srgbClr val="CC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4251960" y="512978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$233M</a:t>
            </a:r>
            <a:endParaRPr lang="en-US" sz="850" dirty="0"/>
          </a:p>
        </p:txBody>
      </p:sp>
      <p:sp>
        <p:nvSpPr>
          <p:cNvPr id="236" name="Shape 234"/>
          <p:cNvSpPr/>
          <p:nvPr/>
        </p:nvSpPr>
        <p:spPr>
          <a:xfrm>
            <a:off x="5212080" y="5129784"/>
            <a:ext cx="960120" cy="310896"/>
          </a:xfrm>
          <a:prstGeom prst="rect">
            <a:avLst/>
          </a:prstGeom>
          <a:solidFill>
            <a:srgbClr val="CC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5212080" y="512978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$280M</a:t>
            </a:r>
            <a:endParaRPr lang="en-US" sz="850" dirty="0"/>
          </a:p>
        </p:txBody>
      </p:sp>
      <p:sp>
        <p:nvSpPr>
          <p:cNvPr id="238" name="Shape 236"/>
          <p:cNvSpPr/>
          <p:nvPr/>
        </p:nvSpPr>
        <p:spPr>
          <a:xfrm>
            <a:off x="6172200" y="5129784"/>
            <a:ext cx="960120" cy="310896"/>
          </a:xfrm>
          <a:prstGeom prst="rect">
            <a:avLst/>
          </a:prstGeom>
          <a:solidFill>
            <a:srgbClr val="CC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6172200" y="512978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$331M</a:t>
            </a:r>
            <a:endParaRPr lang="en-US" sz="850" dirty="0"/>
          </a:p>
        </p:txBody>
      </p:sp>
      <p:sp>
        <p:nvSpPr>
          <p:cNvPr id="240" name="Shape 238"/>
          <p:cNvSpPr/>
          <p:nvPr/>
        </p:nvSpPr>
        <p:spPr>
          <a:xfrm>
            <a:off x="7132320" y="5129784"/>
            <a:ext cx="960120" cy="310896"/>
          </a:xfrm>
          <a:prstGeom prst="rect">
            <a:avLst/>
          </a:prstGeom>
          <a:solidFill>
            <a:srgbClr val="CC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7132320" y="5129784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$391M</a:t>
            </a:r>
            <a:endParaRPr lang="en-US" sz="850" dirty="0"/>
          </a:p>
        </p:txBody>
      </p:sp>
      <p:sp>
        <p:nvSpPr>
          <p:cNvPr id="242" name="Shape 240"/>
          <p:cNvSpPr/>
          <p:nvPr/>
        </p:nvSpPr>
        <p:spPr>
          <a:xfrm>
            <a:off x="8092440" y="5129784"/>
            <a:ext cx="2103120" cy="310896"/>
          </a:xfrm>
          <a:prstGeom prst="rect">
            <a:avLst/>
          </a:prstGeom>
          <a:solidFill>
            <a:srgbClr val="CC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8092440" y="512978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 to 37.5%</a:t>
            </a:r>
            <a:endParaRPr lang="en-US" sz="850" dirty="0"/>
          </a:p>
        </p:txBody>
      </p:sp>
      <p:sp>
        <p:nvSpPr>
          <p:cNvPr id="244" name="Shape 242"/>
          <p:cNvSpPr/>
          <p:nvPr/>
        </p:nvSpPr>
        <p:spPr>
          <a:xfrm>
            <a:off x="274320" y="5440680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274320" y="544068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Margin</a:t>
            </a:r>
            <a:endParaRPr lang="en-US" sz="850" dirty="0"/>
          </a:p>
        </p:txBody>
      </p:sp>
      <p:sp>
        <p:nvSpPr>
          <p:cNvPr id="246" name="Shape 244"/>
          <p:cNvSpPr/>
          <p:nvPr/>
        </p:nvSpPr>
        <p:spPr>
          <a:xfrm>
            <a:off x="2377440" y="5440680"/>
            <a:ext cx="91440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2377440" y="544068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</a:t>
            </a:r>
            <a:endParaRPr lang="en-US" sz="850" dirty="0"/>
          </a:p>
        </p:txBody>
      </p:sp>
      <p:sp>
        <p:nvSpPr>
          <p:cNvPr id="248" name="Shape 246"/>
          <p:cNvSpPr/>
          <p:nvPr/>
        </p:nvSpPr>
        <p:spPr>
          <a:xfrm>
            <a:off x="3291840" y="5440680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3291840" y="544068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</a:t>
            </a:r>
            <a:endParaRPr lang="en-US" sz="850" dirty="0"/>
          </a:p>
        </p:txBody>
      </p:sp>
      <p:sp>
        <p:nvSpPr>
          <p:cNvPr id="250" name="Shape 248"/>
          <p:cNvSpPr/>
          <p:nvPr/>
        </p:nvSpPr>
        <p:spPr>
          <a:xfrm>
            <a:off x="4251960" y="5440680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4251960" y="544068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850" dirty="0"/>
          </a:p>
        </p:txBody>
      </p:sp>
      <p:sp>
        <p:nvSpPr>
          <p:cNvPr id="252" name="Shape 250"/>
          <p:cNvSpPr/>
          <p:nvPr/>
        </p:nvSpPr>
        <p:spPr>
          <a:xfrm>
            <a:off x="5212080" y="5440680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5212080" y="544068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35.8%</a:t>
            </a:r>
            <a:endParaRPr lang="en-US" sz="850" dirty="0"/>
          </a:p>
        </p:txBody>
      </p:sp>
      <p:sp>
        <p:nvSpPr>
          <p:cNvPr id="254" name="Shape 252"/>
          <p:cNvSpPr/>
          <p:nvPr/>
        </p:nvSpPr>
        <p:spPr>
          <a:xfrm>
            <a:off x="6172200" y="5440680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6172200" y="544068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36.5%</a:t>
            </a:r>
            <a:endParaRPr lang="en-US" sz="850" dirty="0"/>
          </a:p>
        </p:txBody>
      </p:sp>
      <p:sp>
        <p:nvSpPr>
          <p:cNvPr id="256" name="Shape 254"/>
          <p:cNvSpPr/>
          <p:nvPr/>
        </p:nvSpPr>
        <p:spPr>
          <a:xfrm>
            <a:off x="7132320" y="5440680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7132320" y="544068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850" dirty="0"/>
          </a:p>
        </p:txBody>
      </p:sp>
      <p:sp>
        <p:nvSpPr>
          <p:cNvPr id="258" name="Shape 256"/>
          <p:cNvSpPr/>
          <p:nvPr/>
        </p:nvSpPr>
        <p:spPr>
          <a:xfrm>
            <a:off x="8092440" y="5440680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8092440" y="544068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60" name="Shape 258"/>
          <p:cNvSpPr/>
          <p:nvPr/>
        </p:nvSpPr>
        <p:spPr>
          <a:xfrm>
            <a:off x="274320" y="5751576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274320" y="575157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YoY Growth</a:t>
            </a:r>
            <a:endParaRPr lang="en-US" sz="850" dirty="0"/>
          </a:p>
        </p:txBody>
      </p:sp>
      <p:sp>
        <p:nvSpPr>
          <p:cNvPr id="262" name="Shape 260"/>
          <p:cNvSpPr/>
          <p:nvPr/>
        </p:nvSpPr>
        <p:spPr>
          <a:xfrm>
            <a:off x="2377440" y="5751576"/>
            <a:ext cx="91440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2377440" y="575157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––</a:t>
            </a:r>
            <a:endParaRPr lang="en-US" sz="850" dirty="0"/>
          </a:p>
        </p:txBody>
      </p:sp>
      <p:sp>
        <p:nvSpPr>
          <p:cNvPr id="264" name="Shape 262"/>
          <p:cNvSpPr/>
          <p:nvPr/>
        </p:nvSpPr>
        <p:spPr>
          <a:xfrm>
            <a:off x="3291840" y="5751576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3291840" y="575157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</a:t>
            </a:r>
            <a:endParaRPr lang="en-US" sz="850" dirty="0"/>
          </a:p>
        </p:txBody>
      </p:sp>
      <p:sp>
        <p:nvSpPr>
          <p:cNvPr id="266" name="Shape 264"/>
          <p:cNvSpPr/>
          <p:nvPr/>
        </p:nvSpPr>
        <p:spPr>
          <a:xfrm>
            <a:off x="4251960" y="5751576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4251960" y="575157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850" dirty="0"/>
          </a:p>
        </p:txBody>
      </p:sp>
      <p:sp>
        <p:nvSpPr>
          <p:cNvPr id="268" name="Shape 266"/>
          <p:cNvSpPr/>
          <p:nvPr/>
        </p:nvSpPr>
        <p:spPr>
          <a:xfrm>
            <a:off x="5212080" y="5751576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5212080" y="575157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850" dirty="0"/>
          </a:p>
        </p:txBody>
      </p:sp>
      <p:sp>
        <p:nvSpPr>
          <p:cNvPr id="270" name="Shape 268"/>
          <p:cNvSpPr/>
          <p:nvPr/>
        </p:nvSpPr>
        <p:spPr>
          <a:xfrm>
            <a:off x="6172200" y="5751576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6172200" y="575157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850" dirty="0"/>
          </a:p>
        </p:txBody>
      </p:sp>
      <p:sp>
        <p:nvSpPr>
          <p:cNvPr id="272" name="Shape 270"/>
          <p:cNvSpPr/>
          <p:nvPr/>
        </p:nvSpPr>
        <p:spPr>
          <a:xfrm>
            <a:off x="7132320" y="5751576"/>
            <a:ext cx="960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7132320" y="5751576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850" dirty="0"/>
          </a:p>
        </p:txBody>
      </p:sp>
      <p:sp>
        <p:nvSpPr>
          <p:cNvPr id="274" name="Shape 272"/>
          <p:cNvSpPr/>
          <p:nvPr/>
        </p:nvSpPr>
        <p:spPr>
          <a:xfrm>
            <a:off x="8092440" y="5751576"/>
            <a:ext cx="2103120" cy="310896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8092440" y="575157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76" name="Text 274"/>
          <p:cNvSpPr/>
          <p:nvPr/>
        </p:nvSpPr>
        <p:spPr>
          <a:xfrm>
            <a:off x="274320" y="58521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assumptions anchored in 17% organic ARR growth, not the 21% total which includes Corellium acquisition contribution ($16.1M).</a:t>
            </a:r>
            <a:endParaRPr lang="en-US" sz="850" dirty="0"/>
          </a:p>
        </p:txBody>
      </p:sp>
      <p:sp>
        <p:nvSpPr>
          <p:cNvPr id="277" name="Text 275"/>
          <p:cNvSpPr/>
          <p:nvPr/>
        </p:nvSpPr>
        <p:spPr>
          <a:xfrm>
            <a:off x="274320" y="644652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Cellebrite Q4 2025 Press Release</a:t>
            </a:r>
            <a:endParaRPr lang="en-US" sz="850" dirty="0"/>
          </a:p>
        </p:txBody>
      </p:sp>
      <p:sp>
        <p:nvSpPr>
          <p:cNvPr id="278" name="Text 276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FCF Grows — and What Would Make It Shrink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for FCF Growth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303520" cy="914400"/>
          </a:xfrm>
          <a:prstGeom prst="rect">
            <a:avLst/>
          </a:prstGeom>
          <a:solidFill>
            <a:srgbClr val="EBF7F5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Growth 19%→15%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avg +21%. Decel 1pp/yr = conservative.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Break: competitive loss or extended federal freeze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solidFill>
            <a:srgbClr val="EBF7F5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Gross Margin 84%→85%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450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81–84% for 4 years. Sub mix 80%→91%.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7249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Break: hardware unexpectedly grows vs SaaS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5303520" cy="914400"/>
          </a:xfrm>
          <a:prstGeom prst="rect">
            <a:avLst/>
          </a:prstGeom>
          <a:solidFill>
            <a:srgbClr val="EBF7F5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00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SG&amp;A 31%→25.5%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456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-6pp in 3 yrs. 3.5pp more = slower.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7307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Break: large-scale sales force expansion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5303520" cy="914400"/>
          </a:xfrm>
          <a:prstGeom prst="rect">
            <a:avLst/>
          </a:prstGeom>
          <a:solidFill>
            <a:srgbClr val="EBF7F5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062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R&amp;D ~23.5% flat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4462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26%→24%. Hold flat. NO leverage assumed.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7365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Break: Apple/Google close vectors, R&amp;D→28%+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5303520" cy="914400"/>
          </a:xfrm>
          <a:prstGeom prst="rect">
            <a:avLst/>
          </a:prstGeom>
          <a:solidFill>
            <a:srgbClr val="EBF7F5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2120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Capex 1.5–1.8%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54681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4-yr avg 1.6%. Asset-light SaaS model.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57424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Break: CLBT builds owned data centers (unlikely)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6480" y="777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Conditions That Would Make FCF Decline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1143000"/>
            <a:ext cx="530352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R&amp;D Arms Race Escalates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241280" y="1188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1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Medium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1463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jumps to 28%+, cutting FCF by ~12%. Apple/Google close exploit vectors faster.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2148840"/>
            <a:ext cx="530352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194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SBC Accelerates to 12%+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241280" y="21945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Low-Medium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24688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margin drops ~2.5pp. From 5.1% (FY22) to 9.4% (FY25) — trajectory to monitor.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3154680"/>
            <a:ext cx="530352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3200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Shekel Appreciation &gt;10%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241280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Low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3474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cost base by ~$30M. Most R&amp;D and engineering in Israel.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26480" y="4160520"/>
            <a:ext cx="530352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206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Growth Stalls &lt;12%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241280" y="42062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Low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63640" y="4480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 stops. Fixed cost base can't be absorbed at lower growth.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0" y="5166360"/>
            <a:ext cx="5303520" cy="914400"/>
          </a:xfrm>
          <a:prstGeom prst="rect">
            <a:avLst/>
          </a:prstGeom>
          <a:solidFill>
            <a:srgbClr val="FEF2F2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5212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M&amp;A Integration Costs Surge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241280" y="5212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Prob: Low-Medium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63640" y="54864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Corellium integration: temporary FCF decline. Any future acquisition compounds.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6172200"/>
            <a:ext cx="10972800" cy="384048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6199632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assuming FCF always grows. Bear Case models 34%→25% FCF margin compression (10% growth, 4x terminal, 7–8% dilution).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Catalysts in the Next Six Months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1274552" cy="27432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611880" cy="4846320"/>
          </a:xfrm>
          <a:prstGeom prst="rect">
            <a:avLst/>
          </a:prstGeom>
          <a:solidFill>
            <a:srgbClr val="142230"/>
          </a:solidFill>
          <a:ln w="19050">
            <a:solidFill>
              <a:srgbClr val="2080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FedRAMP High ATO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304288"/>
            <a:ext cx="2880360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2080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0428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Step-change +20%+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2633472"/>
            <a:ext cx="3392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sponsorship confirmed July 2025. CEO guided completion "before end of Q1." Unlocks Guardian + cloud for entire federal market.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767328"/>
            <a:ext cx="3429000" cy="1097280"/>
          </a:xfrm>
          <a:prstGeom prst="rect">
            <a:avLst/>
          </a:prstGeom>
          <a:solidFill>
            <a:srgbClr val="0A1620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22192"/>
            <a:ext cx="32461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Even if delayed to H2 2026, state/local (grew 19%) and EMEA (grew 24%) sustain growth independently. Thesis does NOT depend on federal recovery.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005840"/>
            <a:ext cx="3611880" cy="4846320"/>
          </a:xfrm>
          <a:prstGeom prst="rect">
            <a:avLst/>
          </a:prstGeom>
          <a:solidFill>
            <a:srgbClr val="142230"/>
          </a:solidFill>
          <a:ln w="19050">
            <a:solidFill>
              <a:srgbClr val="D1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0515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1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89120" y="15544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2026 Earnings (May 2026)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89120" y="20116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304288"/>
            <a:ext cx="2880360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D1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30428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1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+10–20%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07408" y="2633472"/>
            <a:ext cx="3392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Q1 ARR $491–493M (+20–21%). Federal unit expected to exceed company growth rate.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767328"/>
            <a:ext cx="3429000" cy="1097280"/>
          </a:xfrm>
          <a:prstGeom prst="rect">
            <a:avLst/>
          </a:prstGeom>
          <a:solidFill>
            <a:srgbClr val="0A1620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822192"/>
            <a:ext cx="32461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Federal ARR growth above company average. Confirms FedRAMP thesis is materializing.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38160" y="1005840"/>
            <a:ext cx="3611880" cy="4846320"/>
          </a:xfrm>
          <a:prstGeom prst="rect">
            <a:avLst/>
          </a:prstGeom>
          <a:solidFill>
            <a:srgbClr val="142230"/>
          </a:solidFill>
          <a:ln w="19050">
            <a:solidFill>
              <a:srgbClr val="BCE2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10515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229600" y="15544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Genesis AI Monetization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0" y="20116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Q2–Q3 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2304288"/>
            <a:ext cx="2880360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BCE2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230428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+ narrative shift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47888" y="2633472"/>
            <a:ext cx="33924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platform launched March 16, 2026. ZERO AI revenue in FY2026 guidance = pure upside optionality.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3767328"/>
            <a:ext cx="3429000" cy="1097280"/>
          </a:xfrm>
          <a:prstGeom prst="rect">
            <a:avLst/>
          </a:prstGeom>
          <a:solidFill>
            <a:srgbClr val="0A1620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822192"/>
            <a:ext cx="32461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Genesis customer count at Q2 earnings. Any paid customer is a data point vs. guidance conservatism.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080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4: Sell-side coverage expansion (4→7–8 analysts) would mechanically close the discovery discount. Catalyst 5: Defense prime acquisition (L3Harris, BAE) is a free option.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54% Upside With Credible Downside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520440" cy="4480560"/>
          </a:xfrm>
          <a:prstGeom prst="rect">
            <a:avLst/>
          </a:prstGeom>
          <a:solidFill>
            <a:srgbClr val="EFF8E8"/>
          </a:solidFill>
          <a:ln w="25400">
            <a:solidFill>
              <a:srgbClr val="437A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520440" cy="548640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BULL CASE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$27.69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probability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+98% total / 41% 2-yr IRR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FedRAMP unlocks federal acceleration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Guardian becomes LE standard repository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monetization (Genesis) kicks 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FY2027E Rev $691M at 10.0x EV/Rev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40690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$650M cash / 273M diluted shares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0" y="914400"/>
            <a:ext cx="3520440" cy="4480560"/>
          </a:xfrm>
          <a:prstGeom prst="rect">
            <a:avLst/>
          </a:prstGeom>
          <a:solidFill>
            <a:srgbClr val="EBF5F6"/>
          </a:solidFill>
          <a:ln w="25400">
            <a:solidFill>
              <a:srgbClr val="0169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914400"/>
            <a:ext cx="3520440" cy="5486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9601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CASE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1554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$22.75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206240" y="2194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probability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06240" y="24688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 total / 27% 2-yr IRR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43400" y="27889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Inseyets conversion sustains teens growth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43400" y="310896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Margins expand moderately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43400" y="342900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Duopoly holds vs. Magnet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374904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FY2027E Rev $668M at 8.5x EV/Rev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43400" y="40690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$620M cash / 277M diluted shares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955280" y="914400"/>
            <a:ext cx="3520440" cy="4480560"/>
          </a:xfrm>
          <a:prstGeom prst="rect">
            <a:avLst/>
          </a:prstGeom>
          <a:solidFill>
            <a:srgbClr val="FEF2F2"/>
          </a:solidFill>
          <a:ln w="25400">
            <a:solidFill>
              <a:srgbClr val="A135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914400"/>
            <a:ext cx="3520440" cy="548640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9601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BEAR CASE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55280" y="1554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$10.62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7955280" y="2194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probability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0" y="24688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3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-24% total / -13% 2-yr IRR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92440" y="278892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Apple/Google restrict forensic access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92440" y="310896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Federal budgets cut — FedRAMP delayed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92440" y="342900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Magnet achieves platform parity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92440" y="374904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FY2027E Rev $623M at 4.0x EV/Rev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92440" y="40690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$520M cash / 284M diluted shares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5257800"/>
            <a:ext cx="2286000" cy="2560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0" y="5257800"/>
            <a:ext cx="2286000" cy="2560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Probability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0" y="5257800"/>
            <a:ext cx="2286000" cy="2560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15200" y="5257800"/>
            <a:ext cx="2286000" cy="2560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551383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5138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0" y="551383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0" y="55138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0" y="551383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0" y="55138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$27.69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315200" y="551383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0" y="55138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$6.92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5742432"/>
            <a:ext cx="2286000" cy="25603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5742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0" y="5742432"/>
            <a:ext cx="2286000" cy="25603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0" y="5742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9200" y="5742432"/>
            <a:ext cx="2286000" cy="25603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0" y="5742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$22.75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315200" y="5742432"/>
            <a:ext cx="2286000" cy="25603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0" y="5742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$12.51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597103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5971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743200" y="597103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0" y="5971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029200" y="597103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0" y="5971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$10.62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315200" y="597103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0" y="5971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$2.12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57200" y="6199632"/>
            <a:ext cx="2286000" cy="25603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6199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743200" y="6199632"/>
            <a:ext cx="2286000" cy="25603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0" y="6199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029200" y="6199632"/>
            <a:ext cx="2286000" cy="25603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29200" y="6199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315200" y="6199632"/>
            <a:ext cx="2286000" cy="25603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15200" y="6199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$21.56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57200" y="6446520"/>
            <a:ext cx="8686800" cy="292608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644652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 TARGET: $21.56  |  54% UPSIDE  |  24% 2-YR IRR  |  Asymmetry 2.7x (upside/downside)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9235440" y="64465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models real pain: 10% growth + 4x terminal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DCF: $14.79 Floor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863840" y="182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863840" y="182880"/>
            <a:ext cx="1645920" cy="365760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182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66751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589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WACC Build (13.1%)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078992"/>
            <a:ext cx="2286000" cy="30175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7899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0" y="1078992"/>
            <a:ext cx="822960" cy="30175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078992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1078992"/>
            <a:ext cx="2148840" cy="30175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078992"/>
            <a:ext cx="2057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U.S. Treasury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1380744"/>
            <a:ext cx="228600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38074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Risk Premium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0" y="1380744"/>
            <a:ext cx="82296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1380744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66160" y="1380744"/>
            <a:ext cx="214884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1380744"/>
            <a:ext cx="2057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market ERP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1682496"/>
            <a:ext cx="2286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1682496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0" y="1682496"/>
            <a:ext cx="822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68249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66160" y="1682496"/>
            <a:ext cx="2148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1682496"/>
            <a:ext cx="2057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gov-tech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1984248"/>
            <a:ext cx="228600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198424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Premium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0" y="1984248"/>
            <a:ext cx="82296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198424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566160" y="1984248"/>
            <a:ext cx="214884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1984248"/>
            <a:ext cx="2057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Small-cap premium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286000"/>
            <a:ext cx="22860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28600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Israel Country Risk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0" y="2286000"/>
            <a:ext cx="8229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2286000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566160" y="2286000"/>
            <a:ext cx="21488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1880" y="2286000"/>
            <a:ext cx="2057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Domicile adjustment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2587752"/>
            <a:ext cx="2286000" cy="30175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258775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0" y="2587752"/>
            <a:ext cx="822960" cy="30175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0" y="2587752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566160" y="2587752"/>
            <a:ext cx="2148840" cy="30175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2587752"/>
            <a:ext cx="2057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by design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2971800"/>
            <a:ext cx="5257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3017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 Assumptions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4360" y="33375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Terminal growth: 3.5% (GDP 2.5% + inflation 1.0%)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4360" y="359359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Terminal FCF: $405M (FY2030E $391M x 1.035)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4360" y="384962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Terminal value: $405M / (0.131 - 0.035) = $4,215M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94360" y="410565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Implied terminal EV/FCF: 10.8x (below peer avg ~20x)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17920" y="75895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 Projection (FY2026–2030)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217920" y="1078992"/>
            <a:ext cx="1280160" cy="30175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107899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498080" y="1078992"/>
            <a:ext cx="1188720" cy="30175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0" y="107899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($M)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686800" y="1078992"/>
            <a:ext cx="1188720" cy="30175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0" y="107899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Disc.Factor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875520" y="1078992"/>
            <a:ext cx="1188720" cy="30175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875520" y="107899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($M)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17920" y="1380744"/>
            <a:ext cx="128016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138074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498080" y="1380744"/>
            <a:ext cx="118872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98080" y="138074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$191M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686800" y="1380744"/>
            <a:ext cx="118872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86800" y="138074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875520" y="1380744"/>
            <a:ext cx="118872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875520" y="138074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$169M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217920" y="1682496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168249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FY2027E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498080" y="1682496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98080" y="168249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$233M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686800" y="1682496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0" y="168249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875520" y="1682496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75520" y="168249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$182M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217920" y="1984248"/>
            <a:ext cx="128016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0" y="198424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FY2028E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498080" y="1984248"/>
            <a:ext cx="118872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98080" y="19842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$280M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8686800" y="1984248"/>
            <a:ext cx="118872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686800" y="19842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0.690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9875520" y="1984248"/>
            <a:ext cx="118872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875520" y="198424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$193M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217920" y="228600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17920" y="22860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FY2029E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7498080" y="228600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98080" y="228600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$331M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8686800" y="228600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686800" y="228600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0.610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9875520" y="228600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875520" y="228600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$202M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217920" y="2587752"/>
            <a:ext cx="128016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258775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FY2030E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7498080" y="2587752"/>
            <a:ext cx="118872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498080" y="258775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$391M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8686800" y="2587752"/>
            <a:ext cx="118872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686800" y="258775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0.539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9875520" y="2587752"/>
            <a:ext cx="118872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875520" y="258775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$211M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6217920" y="2889504"/>
            <a:ext cx="1280160" cy="301752"/>
          </a:xfrm>
          <a:prstGeom prst="rect">
            <a:avLst/>
          </a:prstGeom>
          <a:solidFill>
            <a:srgbClr val="EBF7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217920" y="288950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PV FCFs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7498080" y="2889504"/>
            <a:ext cx="1188720" cy="301752"/>
          </a:xfrm>
          <a:prstGeom prst="rect">
            <a:avLst/>
          </a:prstGeom>
          <a:solidFill>
            <a:srgbClr val="EBF7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498080" y="288950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8686800" y="2889504"/>
            <a:ext cx="1188720" cy="301752"/>
          </a:xfrm>
          <a:prstGeom prst="rect">
            <a:avLst/>
          </a:prstGeom>
          <a:solidFill>
            <a:srgbClr val="EBF7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686800" y="288950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9875520" y="2889504"/>
            <a:ext cx="1188720" cy="301752"/>
          </a:xfrm>
          <a:prstGeom prst="rect">
            <a:avLst/>
          </a:prstGeom>
          <a:solidFill>
            <a:srgbClr val="EBF7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875520" y="288950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$958M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6217920" y="32918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Bridge to $14.79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6217920" y="3630168"/>
            <a:ext cx="35204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291072" y="3630168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Projected FCFs (FY2026–2030)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9738360" y="3630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811512" y="363016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$958M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6217920" y="3931920"/>
            <a:ext cx="352044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291072" y="3931920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of Terminal Value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9738360" y="3931920"/>
            <a:ext cx="146304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811512" y="393192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$2,278M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6217920" y="4233672"/>
            <a:ext cx="3520440" cy="301752"/>
          </a:xfrm>
          <a:prstGeom prst="rect">
            <a:avLst/>
          </a:prstGeom>
          <a:solidFill>
            <a:srgbClr val="EBF7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291072" y="4233672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Total Implied Enterprise Value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9738360" y="4233672"/>
            <a:ext cx="1463040" cy="301752"/>
          </a:xfrm>
          <a:prstGeom prst="rect">
            <a:avLst/>
          </a:prstGeom>
          <a:solidFill>
            <a:srgbClr val="EBF7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9811512" y="423367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$3,236M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6217920" y="4535424"/>
            <a:ext cx="352044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291072" y="4535424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Net Cash (FY2025)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9738360" y="4535424"/>
            <a:ext cx="146304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811512" y="453542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+$535M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6217920" y="4837176"/>
            <a:ext cx="3520440" cy="301752"/>
          </a:xfrm>
          <a:prstGeom prst="rect">
            <a:avLst/>
          </a:prstGeom>
          <a:solidFill>
            <a:srgbClr val="EBF7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291072" y="4837176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Implied Equity Value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9738360" y="4837176"/>
            <a:ext cx="1463040" cy="301752"/>
          </a:xfrm>
          <a:prstGeom prst="rect">
            <a:avLst/>
          </a:prstGeom>
          <a:solidFill>
            <a:srgbClr val="EBF7F5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9811512" y="483717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$3,771M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6217920" y="5138928"/>
            <a:ext cx="352044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291072" y="5138928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Diluted Shares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9738360" y="5138928"/>
            <a:ext cx="1463040" cy="30175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811512" y="513892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255M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6217920" y="5440680"/>
            <a:ext cx="3520440" cy="30175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291072" y="5440680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Implied Price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9738360" y="5440680"/>
            <a:ext cx="1463040" cy="301752"/>
          </a:xfrm>
          <a:prstGeom prst="rect">
            <a:avLst/>
          </a:prstGeom>
          <a:solidFill>
            <a:srgbClr val="01696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811512" y="544068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$14.79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457200" y="6172200"/>
            <a:ext cx="10972800" cy="384048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48640" y="6190488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$14, CLBT trades at DCF fair value ($14.79). The upside depends on whether the platform premium materializes. A reasonable bear could argue the DCF is correct — our PW target embeds 20% probability of that view.</a:t>
            </a:r>
            <a:endParaRPr lang="en-US" sz="950" dirty="0"/>
          </a:p>
        </p:txBody>
      </p:sp>
      <p:sp>
        <p:nvSpPr>
          <p:cNvPr id="138" name="Text 136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Valuation Peer Analysis (Business Model Analogs, Not Competitors)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04672"/>
            <a:ext cx="1828800" cy="34747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94560" y="804672"/>
            <a:ext cx="1051560" cy="347472"/>
          </a:xfrm>
          <a:prstGeom prst="rect">
            <a:avLst/>
          </a:prstGeom>
          <a:solidFill>
            <a:srgbClr val="0C4E54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8046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CLBT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804672"/>
            <a:ext cx="1051560" cy="34747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8046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VEEV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0" y="804672"/>
            <a:ext cx="1051560" cy="34747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8046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49240" y="804672"/>
            <a:ext cx="1051560" cy="34747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8046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VRNS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804672"/>
            <a:ext cx="1051560" cy="34747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8046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52360" y="804672"/>
            <a:ext cx="1051560" cy="34747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8046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FTNT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503920" y="804672"/>
            <a:ext cx="1051560" cy="34747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80467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55480" y="804672"/>
            <a:ext cx="1143000" cy="34747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80467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Median*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115214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1521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EV/LTM Revenue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1152144"/>
            <a:ext cx="1051560" cy="347472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115214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1152144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115214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97680" y="1152144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115214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49240" y="1152144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115214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1152144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15214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52360" y="1152144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115214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8.2x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03920" y="1152144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115214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1.5x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555480" y="1152144"/>
            <a:ext cx="11430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55480" y="115214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8.1x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1499616"/>
            <a:ext cx="182880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14996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94560" y="1499616"/>
            <a:ext cx="1051560" cy="347472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94560" y="149961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46120" y="1499616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46120" y="149961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97680" y="1499616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149961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349240" y="1499616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149961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0" y="1499616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149961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52360" y="1499616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52360" y="149961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503920" y="1499616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03920" y="149961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555480" y="1499616"/>
            <a:ext cx="11430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55480" y="149961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1847088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18470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194560" y="1847088"/>
            <a:ext cx="1051560" cy="347472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94560" y="184708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246120" y="1847088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46120" y="184708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297680" y="1847088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97680" y="184708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349240" y="1847088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49240" y="184708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400800" y="1847088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0" y="184708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452360" y="1847088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52360" y="184708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503920" y="1847088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03920" y="184708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555480" y="1847088"/>
            <a:ext cx="11430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555480" y="1847088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2194560"/>
            <a:ext cx="182880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Margin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194560" y="2194560"/>
            <a:ext cx="1051560" cy="347472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9456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246120" y="2194560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4612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297680" y="2194560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9768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349240" y="2194560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4924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400800" y="2194560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452360" y="2194560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45236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8503920" y="2194560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503920" y="21945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555480" y="2194560"/>
            <a:ext cx="11430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55480" y="21945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65760" y="254203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5760" y="2542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SBC/Revenue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194560" y="2542032"/>
            <a:ext cx="1051560" cy="347472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194560" y="254203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9.4%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246120" y="2542032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246120" y="254203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4297680" y="2542032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297680" y="254203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22.8%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5349240" y="2542032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349240" y="254203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20.9%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6400800" y="2542032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00800" y="254203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7452360" y="2542032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452360" y="254203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503920" y="2542032"/>
            <a:ext cx="10515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503920" y="254203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9555480" y="2542032"/>
            <a:ext cx="11430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555480" y="2542032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365760" y="2889504"/>
            <a:ext cx="182880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65760" y="28895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40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2194560" y="2889504"/>
            <a:ext cx="1051560" cy="347472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194560" y="288950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3246120" y="2889504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246120" y="288950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4297680" y="2889504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297680" y="288950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5349240" y="2889504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349240" y="288950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6400800" y="2889504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400800" y="288950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7452360" y="2889504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452360" y="288950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8503920" y="2889504"/>
            <a:ext cx="1051560" cy="347472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503920" y="288950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9555480" y="2889504"/>
            <a:ext cx="114300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555480" y="2889504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30" name="Text 128"/>
          <p:cNvSpPr/>
          <p:nvPr/>
        </p:nvSpPr>
        <p:spPr>
          <a:xfrm>
            <a:off x="365760" y="30175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valuation analogs (similar business model economics), NOT product competitors. VEEV (regulated-vertical pharma SaaS) and TYL (gov-tech municipal) are structural parallels for lock-in and margin profile — neither competes with CLBT. *Median excl. PLTR (93.4x). Excl. both PLTR+AXON = 8.05x — unchanged.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365760" y="3520440"/>
            <a:ext cx="11155680" cy="640080"/>
          </a:xfrm>
          <a:prstGeom prst="rect">
            <a:avLst/>
          </a:prstGeom>
          <a:solidFill>
            <a:srgbClr val="EBF5F6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0292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CLBT ranks ABOVE peer median on: Revenue Growth (19% vs 14%), Gross Margin (84% vs 76%), FCF Margin (34% vs 25%), and SBC efficiency (9.4% vs 11.2% median). Rule of 40 = 53, SECOND only to Veeva (56), and achieved with higher revenue growth (19% vs 16%) — making it the most growth-tilted high-quality profile in the peer set. BELOW median only on EV/Sales (6.3x vs 8.1x) — the mispricing.</a:t>
            </a:r>
            <a:endParaRPr lang="en-US" sz="950" dirty="0"/>
          </a:p>
        </p:txBody>
      </p:sp>
      <p:sp>
        <p:nvSpPr>
          <p:cNvPr id="133" name="Text 131"/>
          <p:cNvSpPr/>
          <p:nvPr/>
        </p:nvSpPr>
        <p:spPr>
          <a:xfrm>
            <a:off x="365760" y="4251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Premium/Discount Analysis</a:t>
            </a:r>
            <a:endParaRPr lang="en-US" sz="1300" dirty="0"/>
          </a:p>
        </p:txBody>
      </p:sp>
      <p:sp>
        <p:nvSpPr>
          <p:cNvPr id="134" name="Text 132"/>
          <p:cNvSpPr/>
          <p:nvPr/>
        </p:nvSpPr>
        <p:spPr>
          <a:xfrm>
            <a:off x="365760" y="4645152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factors: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457200" y="487375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Rule of 40: 53: 2nd in set (VEEV 56), most growth-tilted profile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457200" y="512978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Gross Margin: 84%: Highest in comp set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457200" y="538581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SBC: 9.4%: Below 11.2% median; rose from 5.1% FY22 — monitor trajectory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457200" y="564184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Zero-debt + $535M cash: Pristine balance sheet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457200" y="589788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7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competitive losses: 64 contracts — directionally strong (Substack procurement analysis)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6126480" y="4645152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 factors:</a:t>
            </a:r>
            <a:endParaRPr lang="en-US" sz="1000" dirty="0"/>
          </a:p>
        </p:txBody>
      </p:sp>
      <p:sp>
        <p:nvSpPr>
          <p:cNvPr id="141" name="Text 139"/>
          <p:cNvSpPr/>
          <p:nvPr/>
        </p:nvSpPr>
        <p:spPr>
          <a:xfrm>
            <a:off x="6217920" y="487375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analysts vs 15–25 peers: Under-discovered, limited institutional interest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217920" y="512978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Sun Corporation governance: Controlling shareholder overhang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6217920" y="538581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Israeli domicile risk: Country risk premium priced in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6217920" y="564184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$3.5B market cap: Below many institutional mandate minimums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365760" y="6080760"/>
            <a:ext cx="11155680" cy="347472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57200" y="608076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12.5% premium. Adjusted multiple: 9.1x EV/NTM Revenue.  |  $568M NTM Rev x 9.1x = $5.17B EV + $535M cash = $5.7B equity / 255M shares = $22.27/share</a:t>
            </a:r>
            <a:endParaRPr lang="en-US" sz="1000" dirty="0"/>
          </a:p>
        </p:txBody>
      </p:sp>
      <p:sp>
        <p:nvSpPr>
          <p:cNvPr id="147" name="Text 145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Axon: Strategic Investor AND Comp Peer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1274552" cy="27432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Investment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$90M PIPE investment in April 2021 SPAC merger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 oversubscribed (Axon + Light Street + Makena)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01368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Needham: "Could be first step in Axon's ultimate acquisition of Cellebrite"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 current $3.5B mkt cap: Axon could acquire for ~$4.5–5B (13–15% of its EV)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Cellebrite UFED + Pathfinder → Axon Evidence.com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"Single source of truth" for digital investigations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Available at no extra cost to all Pathfinder customers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Cellebrite extraction + Axon body camera + Evidence.com = full workflow lock-in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Switching either vendor breaks the entire integration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84124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Implications for Our Thesis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161288"/>
            <a:ext cx="5303520" cy="914400"/>
          </a:xfrm>
          <a:prstGeom prst="rect">
            <a:avLst/>
          </a:prstGeom>
          <a:solidFill>
            <a:srgbClr val="142230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207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Moat Reinforcement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49961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workflow lock-in. Agency running Axon + Cellebrite has rebuilt entire evidence chain. Switching cost compounds with every case.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2167128"/>
            <a:ext cx="5303520" cy="914400"/>
          </a:xfrm>
          <a:prstGeom prst="rect">
            <a:avLst/>
          </a:prstGeom>
          <a:solidFill>
            <a:srgbClr val="142230"/>
          </a:solidFill>
          <a:ln w="12700">
            <a:solidFill>
              <a:srgbClr val="D1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2128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Acquisition Optionality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50545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option embedded in stock. Axon acquisition at 30–40% premium (~$4.5–5B) = 13–15% of Axon EV. Accessible.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3172968"/>
            <a:ext cx="5303520" cy="914400"/>
          </a:xfrm>
          <a:prstGeom prst="rect">
            <a:avLst/>
          </a:prstGeom>
          <a:solidFill>
            <a:srgbClr val="142230"/>
          </a:solidFill>
          <a:ln w="12700">
            <a:solidFill>
              <a:srgbClr val="BCE2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2186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Comp Set Honesty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51129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 16.2x included for benchmarking, NOT for median. Median excl. PLTR+AXON = 8.05x — essentially unchanged. Transparent.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4178808"/>
            <a:ext cx="5303520" cy="914400"/>
          </a:xfrm>
          <a:prstGeom prst="rect">
            <a:avLst/>
          </a:prstGeom>
          <a:solidFill>
            <a:srgbClr val="142230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224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Moat Validation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45171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$33B Axon with $600M+ R&amp;D budget chose to INVEST and PARTNER rather than build. Validates Big Tech barriers thesis.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5184648"/>
            <a:ext cx="5303520" cy="914400"/>
          </a:xfrm>
          <a:prstGeom prst="rect">
            <a:avLst/>
          </a:prstGeom>
          <a:solidFill>
            <a:srgbClr val="1422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52303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Strategic Signaling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55229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capital: sophisticated buyer with full visibility into agency workflows views Cellebrite as a strategic asset.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6199632"/>
            <a:ext cx="10972800" cy="347472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217920"/>
            <a:ext cx="10789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Axon chose to invest $90M and partner rather than build — validating that Big Tech structural barriers are real, not theoretical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Sources: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StreetInsider (Axon PIPE)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Axon IR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These Sensitivity Variables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CHOSEN (and why)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303520" cy="1051560"/>
          </a:xfrm>
          <a:prstGeom prst="rect">
            <a:avLst/>
          </a:prstGeom>
          <a:solidFill>
            <a:srgbClr val="EBF7F5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710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CAGR (Table 1)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 at 84% gross margin. Tests whether the compounding engine holds.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50008"/>
            <a:ext cx="5303520" cy="1051560"/>
          </a:xfrm>
          <a:prstGeom prst="rect">
            <a:avLst/>
          </a:prstGeom>
          <a:solidFill>
            <a:srgbClr val="EBF7F5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140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 Multiple (Table 1)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715768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whether market reclassifies from "gov contractor" (4x) to "vertical SaaS" (10x+). The re-rating thesis in one variable.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5303520" cy="1051560"/>
          </a:xfrm>
          <a:prstGeom prst="rect">
            <a:avLst/>
          </a:prstGeom>
          <a:solidFill>
            <a:srgbClr val="EBF7F5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570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 Margin (Table 2)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858768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cash generation — the value created. Sensitive to SBC trajectory and R&amp;D intensity.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636008"/>
            <a:ext cx="5303520" cy="1051560"/>
          </a:xfrm>
          <a:prstGeom prst="rect">
            <a:avLst/>
          </a:prstGeom>
          <a:solidFill>
            <a:srgbClr val="EBF7F5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7000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Dilution (Table 2)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5001768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how much shareholders actually receive. Gap between SBC-implied 1.3% and actual ~6% must be explained and modeled.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822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EXCLUDED (and why)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207008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2710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WACC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154533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matters for DCF, which we weight less. The 13.1% is conservative — it floor-tests the investment, not the upside case.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2121408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1854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45973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at 81–84% for 4 years. Narrow range means variation has small impact. Not a swing factor.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3035808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0998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NRR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337413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Denominator-driven, not predictive of forward value. The 130%→116% is base expansion math, not churn signal.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3950208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0142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FedRAMP Timing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428853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event: better modeled in scenario analysis (Bull vs Base vs Bear) than as a continuous sensitivity.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4864608"/>
            <a:ext cx="5303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49286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Share Loss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520293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captured in revenue CAGR deceleration. A 12% growth case embeds competitive pressure implicitly.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6172200"/>
            <a:ext cx="10972800" cy="384048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190488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1 tests value CREATION (does the business compound?). Table 2 tests value CAPTURE (do shareholders receive it?).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Sensitivity Tables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5895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1: Implied Share Price — Revenue CAGR vs. Terminal Multiple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(FY2026 Rev x (1+CAGR)^4 x Multiple + $400M cash) / 310M shares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/ Mult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463040" y="13258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3258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258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3258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3258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3258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3258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13258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3258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13258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3258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655064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6550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463040" y="1655064"/>
            <a:ext cx="1097280" cy="329184"/>
          </a:xfrm>
          <a:prstGeom prst="rect">
            <a:avLst/>
          </a:prstGeom>
          <a:solidFill>
            <a:srgbClr val="FFFFFF"/>
          </a:solidFill>
          <a:ln w="25400">
            <a:solidFill>
              <a:srgbClr val="D1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16550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$12.8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0" y="1655064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16550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0" y="1655064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16550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655064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6550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52160" y="1655064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16550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49440" y="1655064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6550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$35.8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1984248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19842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463040" y="1984248"/>
            <a:ext cx="10972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63040" y="19842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$13.6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0" y="1984248"/>
            <a:ext cx="10972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0" y="19842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$19.8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0" y="1984248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19842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1984248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19842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$29.4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852160" y="1984248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19842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$32.1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949440" y="1984248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9842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2313432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23134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463040" y="2313432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63040" y="23134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$15.0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560320" y="2313432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0" y="23134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$21.8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0" y="2313432"/>
            <a:ext cx="1097280" cy="329184"/>
          </a:xfrm>
          <a:prstGeom prst="rect">
            <a:avLst/>
          </a:prstGeom>
          <a:solidFill>
            <a:srgbClr val="D4EDDA"/>
          </a:solidFill>
          <a:ln w="25400">
            <a:solidFill>
              <a:srgbClr val="D199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0" y="23134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$29.0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54880" y="2313432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23134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$32.4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852160" y="2313432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52160" y="23134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$35.5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949440" y="2313432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23134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$42.3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2642616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26426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463040" y="2642616"/>
            <a:ext cx="10972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463040" y="26426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$15.9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560320" y="2642616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60320" y="26426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$23.3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57600" y="2642616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0" y="26426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$30.9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754880" y="2642616"/>
            <a:ext cx="1097280" cy="329184"/>
          </a:xfrm>
          <a:prstGeom prst="rect">
            <a:avLst/>
          </a:prstGeom>
          <a:solidFill>
            <a:srgbClr val="D4EDDA"/>
          </a:solidFill>
          <a:ln w="25400">
            <a:solidFill>
              <a:srgbClr val="D1990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54880" y="26426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$34.6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852160" y="2642616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52160" y="26426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$37.9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949440" y="2642616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49440" y="26426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$45.2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65760" y="297180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29718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1463040" y="2971800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463040" y="29718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$17.5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560320" y="2971800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60320" y="29718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$25.6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657600" y="2971800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57600" y="29718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$34.1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754880" y="2971800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54880" y="29718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$38.1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852160" y="2971800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52160" y="29718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$41.7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949440" y="2971800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49440" y="29718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$49.8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365760" y="337413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$22+   |   Red = $12 and below   |   Gold border = key scenarios (Base, Bear, Bull)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365760" y="39319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2: FY2030 FCF/Share — FCF Margin vs. Annual Dilution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365760" y="42245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($1,043M x FCF Margin) / (250M x (1+Dilution)^5)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65760" y="45262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5760" y="45262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/ Dil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1463040" y="45262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463040" y="45262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2560320" y="45262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560320" y="45262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657600" y="45262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657600" y="45262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754880" y="45262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754880" y="45262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5852160" y="45262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852160" y="45262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949440" y="452628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49440" y="45262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365760" y="4855464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65760" y="48554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1463040" y="4855464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463040" y="48554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$0.94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2560320" y="4855464"/>
            <a:ext cx="1097280" cy="329184"/>
          </a:xfrm>
          <a:prstGeom prst="rect">
            <a:avLst/>
          </a:prstGeom>
          <a:solidFill>
            <a:srgbClr val="FAD7D7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560320" y="48554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$0.86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3657600" y="4855464"/>
            <a:ext cx="1097280" cy="329184"/>
          </a:xfrm>
          <a:prstGeom prst="rect">
            <a:avLst/>
          </a:prstGeom>
          <a:solidFill>
            <a:srgbClr val="FAD7D7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657600" y="48554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$0.82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4754880" y="4855464"/>
            <a:ext cx="1097280" cy="329184"/>
          </a:xfrm>
          <a:prstGeom prst="rect">
            <a:avLst/>
          </a:prstGeom>
          <a:solidFill>
            <a:srgbClr val="FAD7D7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754880" y="48554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$0.74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5852160" y="4855464"/>
            <a:ext cx="1097280" cy="329184"/>
          </a:xfrm>
          <a:prstGeom prst="rect">
            <a:avLst/>
          </a:prstGeom>
          <a:solidFill>
            <a:srgbClr val="FAD7D7"/>
          </a:solidFill>
          <a:ln w="25400">
            <a:solidFill>
              <a:srgbClr val="D199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852160" y="48554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$0.71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6949440" y="4855464"/>
            <a:ext cx="1097280" cy="329184"/>
          </a:xfrm>
          <a:prstGeom prst="rect">
            <a:avLst/>
          </a:prstGeom>
          <a:solidFill>
            <a:srgbClr val="FAD7D7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949440" y="485546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$0.65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365760" y="5184648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65760" y="51846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1463040" y="5184648"/>
            <a:ext cx="10972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463040" y="51846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$1.13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2560320" y="5184648"/>
            <a:ext cx="10972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560320" y="51846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$1.03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3657600" y="5184648"/>
            <a:ext cx="10972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657600" y="51846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$0.98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4754880" y="5184648"/>
            <a:ext cx="1097280" cy="329184"/>
          </a:xfrm>
          <a:prstGeom prst="rect">
            <a:avLst/>
          </a:prstGeom>
          <a:solidFill>
            <a:srgbClr val="FAD7D7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754880" y="51846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$0.89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5852160" y="5184648"/>
            <a:ext cx="1097280" cy="329184"/>
          </a:xfrm>
          <a:prstGeom prst="rect">
            <a:avLst/>
          </a:prstGeom>
          <a:solidFill>
            <a:srgbClr val="FAD7D7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852160" y="51846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$0.85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6949440" y="5184648"/>
            <a:ext cx="1097280" cy="329184"/>
          </a:xfrm>
          <a:prstGeom prst="rect">
            <a:avLst/>
          </a:prstGeom>
          <a:solidFill>
            <a:srgbClr val="FAD7D7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949440" y="51846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$0.78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365760" y="5513832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65760" y="55138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1463040" y="5513832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463040" y="55138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$1.28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2560320" y="5513832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560320" y="55138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$1.17</a:t>
            </a:r>
            <a:endParaRPr lang="en-US" sz="950" dirty="0"/>
          </a:p>
        </p:txBody>
      </p:sp>
      <p:sp>
        <p:nvSpPr>
          <p:cNvPr id="141" name="Shape 139"/>
          <p:cNvSpPr/>
          <p:nvPr/>
        </p:nvSpPr>
        <p:spPr>
          <a:xfrm>
            <a:off x="3657600" y="5513832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657600" y="55138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$1.11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4754880" y="5513832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754880" y="55138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$1.01</a:t>
            </a:r>
            <a:endParaRPr lang="en-US" sz="950" dirty="0"/>
          </a:p>
        </p:txBody>
      </p:sp>
      <p:sp>
        <p:nvSpPr>
          <p:cNvPr id="145" name="Shape 143"/>
          <p:cNvSpPr/>
          <p:nvPr/>
        </p:nvSpPr>
        <p:spPr>
          <a:xfrm>
            <a:off x="5852160" y="5513832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852160" y="55138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$0.97</a:t>
            </a:r>
            <a:endParaRPr lang="en-US" sz="950" dirty="0"/>
          </a:p>
        </p:txBody>
      </p:sp>
      <p:sp>
        <p:nvSpPr>
          <p:cNvPr id="147" name="Shape 145"/>
          <p:cNvSpPr/>
          <p:nvPr/>
        </p:nvSpPr>
        <p:spPr>
          <a:xfrm>
            <a:off x="6949440" y="5513832"/>
            <a:ext cx="1097280" cy="329184"/>
          </a:xfrm>
          <a:prstGeom prst="rect">
            <a:avLst/>
          </a:prstGeom>
          <a:solidFill>
            <a:srgbClr val="FAD7D7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949440" y="55138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$0.88</a:t>
            </a:r>
            <a:endParaRPr lang="en-US" sz="950" dirty="0"/>
          </a:p>
        </p:txBody>
      </p:sp>
      <p:sp>
        <p:nvSpPr>
          <p:cNvPr id="149" name="Shape 147"/>
          <p:cNvSpPr/>
          <p:nvPr/>
        </p:nvSpPr>
        <p:spPr>
          <a:xfrm>
            <a:off x="365760" y="5843016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65760" y="58430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950" dirty="0"/>
          </a:p>
        </p:txBody>
      </p:sp>
      <p:sp>
        <p:nvSpPr>
          <p:cNvPr id="151" name="Shape 149"/>
          <p:cNvSpPr/>
          <p:nvPr/>
        </p:nvSpPr>
        <p:spPr>
          <a:xfrm>
            <a:off x="1463040" y="5843016"/>
            <a:ext cx="10972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463040" y="58430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$1.40</a:t>
            </a:r>
            <a:endParaRPr lang="en-US" sz="950" dirty="0"/>
          </a:p>
        </p:txBody>
      </p:sp>
      <p:sp>
        <p:nvSpPr>
          <p:cNvPr id="153" name="Shape 151"/>
          <p:cNvSpPr/>
          <p:nvPr/>
        </p:nvSpPr>
        <p:spPr>
          <a:xfrm>
            <a:off x="2560320" y="5843016"/>
            <a:ext cx="1097280" cy="329184"/>
          </a:xfrm>
          <a:prstGeom prst="rect">
            <a:avLst/>
          </a:prstGeom>
          <a:solidFill>
            <a:srgbClr val="EBF5F6"/>
          </a:solidFill>
          <a:ln w="25400">
            <a:solidFill>
              <a:srgbClr val="D1990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560320" y="58430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$1.27</a:t>
            </a:r>
            <a:endParaRPr lang="en-US" sz="950" dirty="0"/>
          </a:p>
        </p:txBody>
      </p:sp>
      <p:sp>
        <p:nvSpPr>
          <p:cNvPr id="155" name="Shape 153"/>
          <p:cNvSpPr/>
          <p:nvPr/>
        </p:nvSpPr>
        <p:spPr>
          <a:xfrm>
            <a:off x="3657600" y="5843016"/>
            <a:ext cx="10972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657600" y="58430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$1.21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4754880" y="5843016"/>
            <a:ext cx="10972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754880" y="58430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$1.10</a:t>
            </a:r>
            <a:endParaRPr lang="en-US" sz="950" dirty="0"/>
          </a:p>
        </p:txBody>
      </p:sp>
      <p:sp>
        <p:nvSpPr>
          <p:cNvPr id="159" name="Shape 157"/>
          <p:cNvSpPr/>
          <p:nvPr/>
        </p:nvSpPr>
        <p:spPr>
          <a:xfrm>
            <a:off x="5852160" y="5843016"/>
            <a:ext cx="10972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852160" y="58430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$1.05</a:t>
            </a:r>
            <a:endParaRPr lang="en-US" sz="950" dirty="0"/>
          </a:p>
        </p:txBody>
      </p:sp>
      <p:sp>
        <p:nvSpPr>
          <p:cNvPr id="161" name="Shape 159"/>
          <p:cNvSpPr/>
          <p:nvPr/>
        </p:nvSpPr>
        <p:spPr>
          <a:xfrm>
            <a:off x="6949440" y="5843016"/>
            <a:ext cx="1097280" cy="329184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949440" y="58430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$0.96</a:t>
            </a:r>
            <a:endParaRPr lang="en-US" sz="950" dirty="0"/>
          </a:p>
        </p:txBody>
      </p:sp>
      <p:sp>
        <p:nvSpPr>
          <p:cNvPr id="163" name="Shape 161"/>
          <p:cNvSpPr/>
          <p:nvPr/>
        </p:nvSpPr>
        <p:spPr>
          <a:xfrm>
            <a:off x="365760" y="6172200"/>
            <a:ext cx="1097280" cy="329184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65760" y="61722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50" dirty="0"/>
          </a:p>
        </p:txBody>
      </p:sp>
      <p:sp>
        <p:nvSpPr>
          <p:cNvPr id="165" name="Shape 163"/>
          <p:cNvSpPr/>
          <p:nvPr/>
        </p:nvSpPr>
        <p:spPr>
          <a:xfrm>
            <a:off x="1463040" y="6172200"/>
            <a:ext cx="1097280" cy="329184"/>
          </a:xfrm>
          <a:prstGeom prst="rect">
            <a:avLst/>
          </a:prstGeom>
          <a:solidFill>
            <a:srgbClr val="D4EDD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463040" y="61722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$1.51</a:t>
            </a:r>
            <a:endParaRPr lang="en-US" sz="950" dirty="0"/>
          </a:p>
        </p:txBody>
      </p:sp>
      <p:sp>
        <p:nvSpPr>
          <p:cNvPr id="167" name="Shape 165"/>
          <p:cNvSpPr/>
          <p:nvPr/>
        </p:nvSpPr>
        <p:spPr>
          <a:xfrm>
            <a:off x="2560320" y="6172200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560320" y="61722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$1.37</a:t>
            </a:r>
            <a:endParaRPr lang="en-US" sz="950" dirty="0"/>
          </a:p>
        </p:txBody>
      </p:sp>
      <p:sp>
        <p:nvSpPr>
          <p:cNvPr id="169" name="Shape 167"/>
          <p:cNvSpPr/>
          <p:nvPr/>
        </p:nvSpPr>
        <p:spPr>
          <a:xfrm>
            <a:off x="3657600" y="6172200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657600" y="61722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$1.31</a:t>
            </a:r>
            <a:endParaRPr lang="en-US" sz="950" dirty="0"/>
          </a:p>
        </p:txBody>
      </p:sp>
      <p:sp>
        <p:nvSpPr>
          <p:cNvPr id="171" name="Shape 169"/>
          <p:cNvSpPr/>
          <p:nvPr/>
        </p:nvSpPr>
        <p:spPr>
          <a:xfrm>
            <a:off x="4754880" y="6172200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754880" y="61722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$1.19</a:t>
            </a:r>
            <a:endParaRPr lang="en-US" sz="950" dirty="0"/>
          </a:p>
        </p:txBody>
      </p:sp>
      <p:sp>
        <p:nvSpPr>
          <p:cNvPr id="173" name="Shape 171"/>
          <p:cNvSpPr/>
          <p:nvPr/>
        </p:nvSpPr>
        <p:spPr>
          <a:xfrm>
            <a:off x="5852160" y="6172200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852160" y="61722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$1.14</a:t>
            </a:r>
            <a:endParaRPr lang="en-US" sz="950" dirty="0"/>
          </a:p>
        </p:txBody>
      </p:sp>
      <p:sp>
        <p:nvSpPr>
          <p:cNvPr id="175" name="Shape 173"/>
          <p:cNvSpPr/>
          <p:nvPr/>
        </p:nvSpPr>
        <p:spPr>
          <a:xfrm>
            <a:off x="6949440" y="6172200"/>
            <a:ext cx="1097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949440" y="61722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$1.04</a:t>
            </a:r>
            <a:endParaRPr lang="en-US" sz="950" dirty="0"/>
          </a:p>
        </p:txBody>
      </p:sp>
      <p:sp>
        <p:nvSpPr>
          <p:cNvPr id="177" name="Shape 175"/>
          <p:cNvSpPr/>
          <p:nvPr/>
        </p:nvSpPr>
        <p:spPr>
          <a:xfrm>
            <a:off x="8229600" y="758952"/>
            <a:ext cx="3566160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8366760" y="822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Scenarios</a:t>
            </a:r>
            <a:endParaRPr lang="en-US" sz="1100" dirty="0"/>
          </a:p>
        </p:txBody>
      </p:sp>
      <p:sp>
        <p:nvSpPr>
          <p:cNvPr id="179" name="Shape 177"/>
          <p:cNvSpPr/>
          <p:nvPr/>
        </p:nvSpPr>
        <p:spPr>
          <a:xfrm>
            <a:off x="457200" y="1124712"/>
            <a:ext cx="11274552" cy="27432"/>
          </a:xfrm>
          <a:prstGeom prst="rect">
            <a:avLst/>
          </a:prstGeom>
          <a:solidFill>
            <a:srgbClr val="D4D1CA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321040" y="1216152"/>
            <a:ext cx="3383280" cy="1325880"/>
          </a:xfrm>
          <a:prstGeom prst="rect">
            <a:avLst/>
          </a:prstGeom>
          <a:solidFill>
            <a:srgbClr val="1A3A1A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841248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Bull Case</a:t>
            </a:r>
            <a:endParaRPr lang="en-US" sz="1100" dirty="0"/>
          </a:p>
        </p:txBody>
      </p:sp>
      <p:sp>
        <p:nvSpPr>
          <p:cNvPr id="182" name="Text 180"/>
          <p:cNvSpPr/>
          <p:nvPr/>
        </p:nvSpPr>
        <p:spPr>
          <a:xfrm>
            <a:off x="8412480" y="1563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22%/10x → ~$32</a:t>
            </a:r>
            <a:endParaRPr lang="en-US" sz="950" dirty="0"/>
          </a:p>
        </p:txBody>
      </p:sp>
      <p:sp>
        <p:nvSpPr>
          <p:cNvPr id="183" name="Text 181"/>
          <p:cNvSpPr/>
          <p:nvPr/>
        </p:nvSpPr>
        <p:spPr>
          <a:xfrm>
            <a:off x="8412480" y="18379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T2: 37%/4% → $1.65/sh</a:t>
            </a:r>
            <a:endParaRPr lang="en-US" sz="950" dirty="0"/>
          </a:p>
        </p:txBody>
      </p:sp>
      <p:sp>
        <p:nvSpPr>
          <p:cNvPr id="184" name="Text 182"/>
          <p:cNvSpPr/>
          <p:nvPr/>
        </p:nvSpPr>
        <p:spPr>
          <a:xfrm>
            <a:off x="8412480" y="2130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value creation + capture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8321040" y="2679192"/>
            <a:ext cx="3383280" cy="1325880"/>
          </a:xfrm>
          <a:prstGeom prst="rect">
            <a:avLst/>
          </a:prstGeom>
          <a:solidFill>
            <a:srgbClr val="0A2525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8412480" y="2724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Case</a:t>
            </a:r>
            <a:endParaRPr lang="en-US" sz="1100" dirty="0"/>
          </a:p>
        </p:txBody>
      </p:sp>
      <p:sp>
        <p:nvSpPr>
          <p:cNvPr id="187" name="Text 185"/>
          <p:cNvSpPr/>
          <p:nvPr/>
        </p:nvSpPr>
        <p:spPr>
          <a:xfrm>
            <a:off x="8412480" y="30266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17%/8.1x → ~$22</a:t>
            </a:r>
            <a:endParaRPr lang="en-US" sz="950" dirty="0"/>
          </a:p>
        </p:txBody>
      </p:sp>
      <p:sp>
        <p:nvSpPr>
          <p:cNvPr id="188" name="Text 186"/>
          <p:cNvSpPr/>
          <p:nvPr/>
        </p:nvSpPr>
        <p:spPr>
          <a:xfrm>
            <a:off x="8412480" y="33009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T2: 34%/5% → $1.41/sh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8412480" y="3593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compounding thesis</a:t>
            </a:r>
            <a:endParaRPr lang="en-US" sz="900" dirty="0"/>
          </a:p>
        </p:txBody>
      </p:sp>
      <p:sp>
        <p:nvSpPr>
          <p:cNvPr id="190" name="Shape 188"/>
          <p:cNvSpPr/>
          <p:nvPr/>
        </p:nvSpPr>
        <p:spPr>
          <a:xfrm>
            <a:off x="8321040" y="4142232"/>
            <a:ext cx="3383280" cy="1325880"/>
          </a:xfrm>
          <a:prstGeom prst="rect">
            <a:avLst/>
          </a:prstGeom>
          <a:solidFill>
            <a:srgbClr val="3A0A0A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8412480" y="4187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Bear Case</a:t>
            </a:r>
            <a:endParaRPr lang="en-US" sz="1100" dirty="0"/>
          </a:p>
        </p:txBody>
      </p:sp>
      <p:sp>
        <p:nvSpPr>
          <p:cNvPr id="192" name="Text 190"/>
          <p:cNvSpPr/>
          <p:nvPr/>
        </p:nvSpPr>
        <p:spPr>
          <a:xfrm>
            <a:off x="8412480" y="44897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12%/4x → ~$11</a:t>
            </a:r>
            <a:endParaRPr lang="en-US" sz="950" dirty="0"/>
          </a:p>
        </p:txBody>
      </p:sp>
      <p:sp>
        <p:nvSpPr>
          <p:cNvPr id="193" name="Text 191"/>
          <p:cNvSpPr/>
          <p:nvPr/>
        </p:nvSpPr>
        <p:spPr>
          <a:xfrm>
            <a:off x="8412480" y="47640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T2: 25%/8% → $0.89/sh</a:t>
            </a:r>
            <a:endParaRPr lang="en-US" sz="950" dirty="0"/>
          </a:p>
        </p:txBody>
      </p:sp>
      <p:sp>
        <p:nvSpPr>
          <p:cNvPr id="194" name="Text 192"/>
          <p:cNvSpPr/>
          <p:nvPr/>
        </p:nvSpPr>
        <p:spPr>
          <a:xfrm>
            <a:off x="8412480" y="5056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pain modeled, not optimistic</a:t>
            </a:r>
            <a:endParaRPr lang="en-US" sz="900" dirty="0"/>
          </a:p>
        </p:txBody>
      </p:sp>
      <p:sp>
        <p:nvSpPr>
          <p:cNvPr id="195" name="Text 193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DCF vs. Comps — Honest Assessment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607040" y="182880"/>
            <a:ext cx="1554480" cy="365760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07040" y="182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5029200" cy="4114800"/>
          </a:xfrm>
          <a:prstGeom prst="rect">
            <a:avLst/>
          </a:prstGeom>
          <a:solidFill>
            <a:srgbClr val="EBF5F6"/>
          </a:solidFill>
          <a:ln w="25400">
            <a:solidFill>
              <a:srgbClr val="0169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5029200" cy="548640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DCF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$14.79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(FLOOR)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WACC 13.1% — punitive (2% size + 0.5% Israel)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0449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Terminal 10.8x FCF — below peer avg ~20x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39242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Mechanical DCF cannot capture platform moat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73989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Conclusion: CLBT is fairly valued on cash flows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08736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reasonable bear could argue this is "right"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2468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675120" y="914400"/>
            <a:ext cx="5029200" cy="4114800"/>
          </a:xfrm>
          <a:prstGeom prst="rect">
            <a:avLst/>
          </a:prstGeom>
          <a:solidFill>
            <a:srgbClr val="EFF8E8"/>
          </a:solidFill>
          <a:ln w="25400">
            <a:solidFill>
              <a:srgbClr val="437A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914400"/>
            <a:ext cx="5029200" cy="548640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914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COMPS MODEL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15087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37A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$22.27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667512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(TARGET)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26974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Peer median 8.1x (excl. PLTR 93.4x outlier)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12280" y="30449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Excl. PLTR + AXON = 8.05x — essentially same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12280" y="339242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12.5% premium justified: Rule 40, margins, moat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373989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$568M NTM Rev x 9.1x + $535M cash / 255M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408736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reclassification = multiple re-rating thesis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102352"/>
            <a:ext cx="11155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148072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the "platform premium." We do not dismiss either framework. The DCF says CLBT is fairly valued on cash flows. The comps say similar profiles trade higher. A reasonable bear could argue the DCF is correct and the comps are aspirational. Our PW target of $21.56 embeds 20% probability of the DCF-is-right view and 80% probability that the platform premium materializes.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NRR Waterfall — Not What It Looks Like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declined 130%→116%. The market sees churn. The data shows denominator expansion.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724912"/>
            <a:ext cx="2286000" cy="411480"/>
          </a:xfrm>
          <a:prstGeom prst="rect">
            <a:avLst/>
          </a:prstGeom>
          <a:solidFill>
            <a:srgbClr val="ECEC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249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ARR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2724912"/>
            <a:ext cx="2468880" cy="411480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7249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$185M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200400"/>
            <a:ext cx="2286000" cy="411480"/>
          </a:xfrm>
          <a:prstGeom prst="rect">
            <a:avLst/>
          </a:prstGeom>
          <a:solidFill>
            <a:srgbClr val="ECEC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00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Dollars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80360" y="3200400"/>
            <a:ext cx="2468880" cy="411480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3200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675888"/>
            <a:ext cx="2286000" cy="411480"/>
          </a:xfrm>
          <a:prstGeom prst="rect">
            <a:avLst/>
          </a:prstGeom>
          <a:solidFill>
            <a:srgbClr val="ECEC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6758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80360" y="3675888"/>
            <a:ext cx="2468880" cy="411480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36758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4151376"/>
            <a:ext cx="2286000" cy="411480"/>
          </a:xfrm>
          <a:prstGeom prst="rect">
            <a:avLst/>
          </a:prstGeom>
          <a:solidFill>
            <a:srgbClr val="ECEC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513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Retention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80360" y="4151376"/>
            <a:ext cx="2468880" cy="411480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415137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4626864"/>
            <a:ext cx="2286000" cy="411480"/>
          </a:xfrm>
          <a:prstGeom prst="rect">
            <a:avLst/>
          </a:prstGeom>
          <a:solidFill>
            <a:srgbClr val="ECEC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2686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ARR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80360" y="4626864"/>
            <a:ext cx="2468880" cy="411480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0360" y="462686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C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760720" y="1188720"/>
            <a:ext cx="5029200" cy="4297680"/>
          </a:xfrm>
          <a:prstGeom prst="rect">
            <a:avLst/>
          </a:prstGeom>
          <a:solidFill>
            <a:srgbClr val="EBF7F5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1188720"/>
            <a:ext cx="5029200" cy="502920"/>
          </a:xfrm>
          <a:prstGeom prst="rect">
            <a:avLst/>
          </a:prstGeom>
          <a:solidFill>
            <a:srgbClr val="20808D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60720" y="175564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116%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5760720" y="23957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2724912"/>
            <a:ext cx="2286000" cy="411480"/>
          </a:xfrm>
          <a:prstGeom prst="rect">
            <a:avLst/>
          </a:prstGeom>
          <a:solidFill>
            <a:srgbClr val="ECEC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7249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ARR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83880" y="2724912"/>
            <a:ext cx="2468880" cy="411480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27249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$481M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897880" y="3200400"/>
            <a:ext cx="2286000" cy="411480"/>
          </a:xfrm>
          <a:prstGeom prst="rect">
            <a:avLst/>
          </a:prstGeom>
          <a:solidFill>
            <a:srgbClr val="ECEC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200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Dollars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83880" y="3200400"/>
            <a:ext cx="2468880" cy="411480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83880" y="3200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$85M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97880" y="3675888"/>
            <a:ext cx="2286000" cy="411480"/>
          </a:xfrm>
          <a:prstGeom prst="rect">
            <a:avLst/>
          </a:prstGeom>
          <a:solidFill>
            <a:srgbClr val="ECEC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36758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Rate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83880" y="3675888"/>
            <a:ext cx="2468880" cy="411480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36758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+17.7%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897880" y="4151376"/>
            <a:ext cx="2286000" cy="411480"/>
          </a:xfrm>
          <a:prstGeom prst="rect">
            <a:avLst/>
          </a:prstGeom>
          <a:solidFill>
            <a:srgbClr val="ECEC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0" y="415137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Retention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83880" y="4151376"/>
            <a:ext cx="2468880" cy="411480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83880" y="415137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91%→93%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897880" y="4626864"/>
            <a:ext cx="2286000" cy="411480"/>
          </a:xfrm>
          <a:prstGeom prst="rect">
            <a:avLst/>
          </a:prstGeom>
          <a:solidFill>
            <a:srgbClr val="ECECEA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462686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ARR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183880" y="4626864"/>
            <a:ext cx="2468880" cy="411480"/>
          </a:xfrm>
          <a:prstGeom prst="rect">
            <a:avLst/>
          </a:prstGeom>
          <a:solidFill>
            <a:srgbClr val="E0F2F2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83880" y="462686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80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FY2024 levels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62356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56" name="Shape 54"/>
          <p:cNvSpPr/>
          <p:nvPr/>
        </p:nvSpPr>
        <p:spPr>
          <a:xfrm>
            <a:off x="457200" y="5577840"/>
            <a:ext cx="11155680" cy="868680"/>
          </a:xfrm>
          <a:prstGeom prst="rect">
            <a:avLst/>
          </a:prstGeom>
          <a:solidFill>
            <a:srgbClr val="FFF8E1"/>
          </a:solidFill>
          <a:ln w="19050">
            <a:solidFill>
              <a:srgbClr val="D199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5623560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Base ARR grew 2.6x ($185M→$481M). Absolute expansion dollars INCREASED $68M→$85M (+25%). The NRR percentage fell because the denominator exploded. This is dilutive math, not customer churn. Gross retention actually improved 88%→93%. Q4 2025 net-new ARR returned to prior-year levels — the trend is reversing.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649224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Source: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Morgan Stanley Conference March 2026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pPr indent="0" marL="0">
              <a:buNone/>
            </a:pPr>
            <a:r>
              <a:rPr lang="en-US" sz="85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Cellebrite Q4 2025 Earnings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Register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784080" y="182880"/>
            <a:ext cx="1920240" cy="365760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84080" y="182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Federal: UPGRADED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6751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1115568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50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8503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Apple/Google Restrict Forensic Access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896112"/>
            <a:ext cx="1371600" cy="256032"/>
          </a:xfrm>
          <a:prstGeom prst="rect">
            <a:avLst/>
          </a:prstGeom>
          <a:solidFill>
            <a:srgbClr val="D19900"/>
          </a:solidFill>
          <a:ln w="12700">
            <a:solidFill>
              <a:srgbClr val="D1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896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Medium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43800" y="896112"/>
            <a:ext cx="822960" cy="256032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8961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High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121615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vendors affected simultaneously (industry event, not competitive loss). Platform products (Inseyets/Guardian/Pathfinder) represent 55%+ of ARR and are not device-unlock dependent. Spring 2026 support covers iPhone 17/iOS 26.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11155680" cy="1280160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240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NRR Continues Declining Below 110%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286000"/>
            <a:ext cx="1371600" cy="256032"/>
          </a:xfrm>
          <a:prstGeom prst="rect">
            <a:avLst/>
          </a:prstGeom>
          <a:solidFill>
            <a:srgbClr val="D19900"/>
          </a:solidFill>
          <a:ln w="12700">
            <a:solidFill>
              <a:srgbClr val="D1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286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Medium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43800" y="2286000"/>
            <a:ext cx="822960" cy="256032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22860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High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6060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gross retention improving to 93%. Denominator effect: base grew 2.6x. Q4 2025 net-new ARR returned to prior-year levels — trend is reversing. Absolute expansion dollars increasing.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584448"/>
            <a:ext cx="11155680" cy="1280160"/>
          </a:xfrm>
          <a:prstGeom prst="rect">
            <a:avLst/>
          </a:prstGeom>
          <a:solidFill>
            <a:srgbClr val="FEF2F2"/>
          </a:solidFill>
          <a:ln w="25400">
            <a:solidFill>
              <a:srgbClr val="A135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30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6301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Federal Procurement Freeze Extends to FY2027 ★ UPGRADED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3675888"/>
            <a:ext cx="1371600" cy="256032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675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Medium-High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43800" y="3675888"/>
            <a:ext cx="822960" cy="256032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36758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High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399592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RISK: Thesis does NOT depend on federal recovery — state/local (+19%), EMEA (+24%), APAC (+23%) provide 70% of ARR growing 20%+. BUT: Bull Case ($27.69) assumes federal reacceleration. Delayed FedRAMP eliminates ~$3–4 of upside from PW target.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974336"/>
            <a:ext cx="11155680" cy="1280160"/>
          </a:xfrm>
          <a:prstGeom prst="rect">
            <a:avLst/>
          </a:prstGeom>
          <a:solidFill>
            <a:srgbClr val="EBF5F6"/>
          </a:solidFill>
          <a:ln w="6350">
            <a:solidFill>
              <a:srgbClr val="D4D1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020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SBC Dilution Exceeds 7% Annually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0760" y="5065776"/>
            <a:ext cx="1371600" cy="2560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50657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Low-Medium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43800" y="5065776"/>
            <a:ext cx="822960" cy="256032"/>
          </a:xfrm>
          <a:prstGeom prst="rect">
            <a:avLst/>
          </a:prstGeom>
          <a:solidFill>
            <a:srgbClr val="D19900"/>
          </a:solidFill>
          <a:ln w="12700">
            <a:solidFill>
              <a:srgbClr val="D1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43800" y="506577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Medium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5385816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SBC 9.4% is BELOW peer median 11.2%, but has RISEN from 5.1% (FY22) — trajectory warrants monitoring. $45M at $14/share implies 1.3% but actual dilution ~6% due to prior RSU vesting + warrant exercises. Model 4–5% Base, 7–8% Bear.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6309360"/>
            <a:ext cx="11155680" cy="32004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CONVICTION: HIGH. Asymmetric 2.7x risk/reward. All risks identified, sized, and modeled into Bear Case ($10.62).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Differentiated Insight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1274552" cy="27432"/>
          </a:xfrm>
          <a:prstGeom prst="rect">
            <a:avLst/>
          </a:prstGeom>
          <a:solidFill>
            <a:srgbClr val="01696F"/>
          </a:solidFill>
          <a:ln w="12700">
            <a:solidFill>
              <a:srgbClr val="0169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96112"/>
            <a:ext cx="11155680" cy="1005840"/>
          </a:xfrm>
          <a:prstGeom prst="rect">
            <a:avLst/>
          </a:prstGeom>
          <a:solidFill>
            <a:srgbClr val="0C4E54"/>
          </a:solidFill>
          <a:ln w="12700">
            <a:solidFill>
              <a:srgbClr val="0C4E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Cellebrite operates in the only enterprise software category where Big Tech is structurally prohibited from competing — because the product requires breaking the devices that Google and Apple spend billions to secure.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E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Behavioral Bias: Categorization Error + Coverage Neglect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303520" cy="3200400"/>
          </a:xfrm>
          <a:prstGeom prst="rect">
            <a:avLst/>
          </a:prstGeom>
          <a:solidFill>
            <a:srgbClr val="FEF2F2"/>
          </a:solidFill>
          <a:ln w="19050">
            <a:solidFill>
              <a:srgbClr val="A135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5303520" cy="411480"/>
          </a:xfrm>
          <a:prstGeom prst="rect">
            <a:avLst/>
          </a:prstGeom>
          <a:solidFill>
            <a:srgbClr val="A13544"/>
          </a:solidFill>
          <a:ln w="12700">
            <a:solidFill>
              <a:srgbClr val="A135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Market Sees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5292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"Israel + government + forensics + $3.5B market cap"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Applies Cognyte-like discount: 1.5x EV/Sales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73075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Small-cap gov contractor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16966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Competitive market (Grayshift/Magnet threat)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60857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Hardware-era company transitioning late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504748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Under-covered: 4 analysts vs 15–25 for peers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377440"/>
            <a:ext cx="5486400" cy="3200400"/>
          </a:xfrm>
          <a:prstGeom prst="rect">
            <a:avLst/>
          </a:prstGeom>
          <a:solidFill>
            <a:srgbClr val="EFF8E8"/>
          </a:solidFill>
          <a:ln w="19050">
            <a:solidFill>
              <a:srgbClr val="437A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377440"/>
            <a:ext cx="5486400" cy="411480"/>
          </a:xfrm>
          <a:prstGeom prst="rect">
            <a:avLst/>
          </a:prstGeom>
          <a:solidFill>
            <a:srgbClr val="437A22"/>
          </a:solidFill>
          <a:ln w="12700">
            <a:solidFill>
              <a:srgbClr val="437A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377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Data Shows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852928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Regulated-vertical platform monopoly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3291840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Belongs at Veeva/Tyler 8–10x EV/Sales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3730752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84% gross margin — highest in comp set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4169664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34% FCF margin — SaaS-grade cash generation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4608576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competitive losses in 64 contracts (3 yrs)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5047488"/>
            <a:ext cx="5257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"Cellebrite" used as a verb — brand-as-protocol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687568"/>
            <a:ext cx="11155680" cy="685800"/>
          </a:xfrm>
          <a:prstGeom prst="rect">
            <a:avLst/>
          </a:prstGeom>
          <a:solidFill>
            <a:srgbClr val="FFF8E1"/>
          </a:solidFill>
          <a:ln w="19050">
            <a:solidFill>
              <a:srgbClr val="D1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73328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Re-Rating Thesis: When coverage expands and the market reclassifies CLBT from "gov contractor" to "vertical SaaS platform," the multiple re-rates from 6x to 9–10x. This is not about the company changing — it is about investors changing how they see the company.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080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06040" cy="822960"/>
          </a:xfrm>
          <a:prstGeom prst="rect">
            <a:avLst/>
          </a:prstGeom>
          <a:solidFill>
            <a:srgbClr val="0C4E54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4475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$21.56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Target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91840" y="1417320"/>
            <a:ext cx="2606040" cy="822960"/>
          </a:xfrm>
          <a:prstGeom prst="rect">
            <a:avLst/>
          </a:prstGeom>
          <a:solidFill>
            <a:srgbClr val="0C4E54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44475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+54%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91840" y="1920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from $14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2606040" cy="822960"/>
          </a:xfrm>
          <a:prstGeom prst="rect">
            <a:avLst/>
          </a:prstGeom>
          <a:solidFill>
            <a:srgbClr val="0C4E54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44475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26480" y="1920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IRR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61120" y="1417320"/>
            <a:ext cx="2606040" cy="822960"/>
          </a:xfrm>
          <a:prstGeom prst="rect">
            <a:avLst/>
          </a:prstGeom>
          <a:solidFill>
            <a:srgbClr val="0C4E54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144475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961120" y="1920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C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11247120" cy="914400"/>
          </a:xfrm>
          <a:prstGeom prst="rect">
            <a:avLst/>
          </a:prstGeom>
          <a:solidFill>
            <a:srgbClr val="142230"/>
          </a:solidFill>
          <a:ln w="12700">
            <a:solidFill>
              <a:srgbClr val="2080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23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$14, the market gives you the DCF floor ($14.79) and asks you to pay nothing for the platform moat — zero competitive losses, structural Big Tech barriers, 84% gross margins, and the only enterprise software category where market structure itself is your competitive advantage.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E2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Corrections Reflected in This Report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6732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Rule of 40 = 53, SECOND to Veeva (56). Frame: "most growth-tilted," not "highest."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SBC 9.4% BELOW peer median (11.2%) but NOT lowest. FTNT 4.1%, CGNT 5.3%, TYL 6.5% are lower. Rose from 5.1%.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64515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ARR growth: 21% total, 17% organic. Corellium +$16.1M. Projections anchored in 17% organic.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508406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DCF = $14.79 (corrected from $13.32). PV FCFs $958M + PV TV $2,278M + $535M cash / 255M = $14.79.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26480" y="3767328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Dilution: actual ~6% (RSU vesting + SPAC warrants + acq shares), not SBC-implied 1.3%. Model 4–5% Base, 7–8% Bear.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26480" y="420624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Peer median 8.1x. Excl. PLTR+AXON = 8.05x — robust either way.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26480" y="464515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"64 contracts ZERO losses" from Substack procurement analysis. Directionally strong, not audited filings.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6480" y="508406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Federal risk UPGRADED to Medium-High/High. Bull Case hinges on FedRAMP. Delay costs ~$3–4 of upside.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619963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Sources: </a:t>
            </a:r>
            <a:pPr indent="0" marL="0">
              <a:buNone/>
            </a:pPr>
            <a:r>
              <a:rPr lang="en-US" sz="80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Cellebrite Q4 2025 PR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| </a:t>
            </a:r>
            <a:pPr indent="0" marL="0">
              <a:buNone/>
            </a:pPr>
            <a:r>
              <a:rPr lang="en-US" sz="80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Cellebrite 2026 Industry Report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| </a:t>
            </a:r>
            <a:pPr indent="0" marL="0">
              <a:buNone/>
            </a:pPr>
            <a:r>
              <a:rPr lang="en-US" sz="80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Future Market Insights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| </a:t>
            </a:r>
            <a:pPr indent="0" marL="0">
              <a:buNone/>
            </a:pPr>
            <a:r>
              <a:rPr lang="en-US" sz="80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Morgan Stanley Conference</a:t>
            </a:r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| </a:t>
            </a:r>
            <a:pPr indent="0" marL="0">
              <a:buNone/>
            </a:pPr>
            <a:r>
              <a:rPr lang="en-US" sz="800" u="sng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StreetInsider (Axon PIPE)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6419088"/>
            <a:ext cx="11247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research and analysis only, not personalized investment advice. Past performance does not guarantee future results. All projections are estimates subject to material uncertainty.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6601968"/>
            <a:ext cx="10058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Cellebrite DI Ltd.  |  NASDAQ: CLBT  |  April 2026  |  Institutional Stock Pitch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2026-04-09T02:27:01Z</dcterms:created>
  <dcterms:modified xsi:type="dcterms:W3CDTF">2026-04-09T02:27:01Z</dcterms:modified>
</cp:coreProperties>
</file>