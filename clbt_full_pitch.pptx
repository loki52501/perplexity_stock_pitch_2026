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4.xml" ContentType="application/vnd.openxmlformats-officedocument.presentationml.slide+xml"/>
</Types>
</file>

<file path=_rels/.rels><?xml version='1.0' encoding='UTF-8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20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20" Type="http://schemas.openxmlformats.org/officeDocument/2006/relationships/slide" Target="slides/slide14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?>
<Relationships xmlns="http://schemas.openxmlformats.org/package/2006/relationships"><Relationship Id="rId1" Type="http://schemas.openxmlformats.org/officeDocument/2006/relationships/hyperlink" Target="https://www.futuremarketinsights.com/reports/digital-forensics-market" TargetMode="External"/><Relationship Id="rId2" Type="http://schemas.openxmlformats.org/officeDocument/2006/relationships/hyperlink" Target="https://cellebrite.com/en/blog/2025-industry-trends-survey-insights-into-ai-and-digital-investigations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'1.0' encoding='UTF-8'?>
<Relationships xmlns="http://schemas.openxmlformats.org/package/2006/relationships"><Relationship Id="rId1" Type="http://schemas.openxmlformats.org/officeDocument/2006/relationships/hyperlink" Target="https://ebbnflow7.substack.com/p/zero-competitive-losses-in-64-contracts" TargetMode="External"/><Relationship Id="rId2" Type="http://schemas.openxmlformats.org/officeDocument/2006/relationships/hyperlink" Target="https://www.apple.com/newsroom/2021/11/apple-sues-nso-group-to-curb-the-abuse-of-state-sponsored-spyware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'1.0' encoding='UTF-8'?>
<Relationships xmlns="http://schemas.openxmlformats.org/package/2006/relationships"><Relationship Id="rId1" Type="http://schemas.openxmlformats.org/officeDocument/2006/relationships/hyperlink" Target="https://www.investing.com/news/transcripts/cellebrite-at-morgan-stanley-conference-strategic-insights-on-growth-and-innovation-93CH-4538816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?>
<Relationships xmlns="http://schemas.openxmlformats.org/package/2006/relationships"><Relationship Id="rId1" Type="http://schemas.openxmlformats.org/officeDocument/2006/relationships/hyperlink" Target="https://www.prnewswire.com/news-releases/cellebrite-announces-record-fourth-quarter-and-full-year-2025-results-302684465.html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?>
<Relationships xmlns="http://schemas.openxmlformats.org/package/2006/relationships"><Relationship Id="rId1" Type="http://schemas.openxmlformats.org/officeDocument/2006/relationships/hyperlink" Target="https://perplexity.ai/finance/CLBT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1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?>
<Relationships xmlns="http://schemas.openxmlformats.org/package/2006/relationships"><Relationship Id="rId1" Type="http://schemas.openxmlformats.org/officeDocument/2006/relationships/hyperlink" Target="https://perplexity.ai/finance/CLBT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CELLEBRITE DI LTD.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78638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Market Is Using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Wrong Mental Model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205740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i="1" dirty="0">
                <a:solidFill>
                  <a:srgbClr val="D1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 prices Cellebrite as a declining Israeli hardware vendor in a competitive market. It is actually a regulated-vertical platform monopoly with 84% gross margins, zero competitive losses, and structural barriers that block every Big Tech company from entering.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1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NASDAQ: CLBT  |  $14.00  |  Mkt Cap $3.5B  |  BUY  |  PT $21.56 (+54%, probability-weighted)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3200400"/>
            <a:ext cx="7863840" cy="18288"/>
          </a:xfrm>
          <a:prstGeom prst="rect">
            <a:avLst/>
          </a:prstGeom>
          <a:solidFill>
            <a:srgbClr val="01696F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33375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6.3x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40080" y="376732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EV/NTM Rev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397764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8.1x peer median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2286000" y="33375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53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286000" y="376732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40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286000" y="397764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in comp set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931920" y="33375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84%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931920" y="376732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931920" y="397764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in comp set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577840" y="33375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34%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5577840" y="376732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FCF Margin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577840" y="397764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$160M FY2025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223760" y="33375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7223760" y="376732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Coverage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223760" y="397764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Israeli small-cap, limited float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40080" y="46634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April 2026  |  Institutional Stock Pitch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1/14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Digital Evidence Is the New DNA: A $46B Market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 enforcement faces a structural bottleneck — digital evidence volumes are exploding while headcount stays flat.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$46.1B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2560320" y="15087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forensics TAM by 2036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560320" y="176479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11.4% CAGR from $15.7B in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97%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2560320" y="2514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investigators cite smartphones as #1 evidence source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560320" y="277063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24pp from 2024 (n=1,200, 63 countries)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0080" y="35204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69%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560320" y="3520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they lack time to handle caseloads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560320" y="377647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51% report backlogs climbed in the past year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400800" y="1508760"/>
            <a:ext cx="2468880" cy="29260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0" y="160020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 Growth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83680" y="2011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178040" y="2029968"/>
            <a:ext cx="199938" cy="201168"/>
          </a:xfrm>
          <a:prstGeom prst="roundRect">
            <a:avLst>
              <a:gd name="adj" fmla="val 18294"/>
            </a:avLst>
          </a:prstGeom>
          <a:solidFill>
            <a:srgbClr val="20808D"/>
          </a:solidFill>
          <a:ln/>
        </p:spPr>
      </p:sp>
      <p:sp>
        <p:nvSpPr>
          <p:cNvPr id="17" name="Text 15"/>
          <p:cNvSpPr/>
          <p:nvPr/>
        </p:nvSpPr>
        <p:spPr>
          <a:xfrm>
            <a:off x="7469418" y="20116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$5.6B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583680" y="25603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178040" y="2578608"/>
            <a:ext cx="560541" cy="201168"/>
          </a:xfrm>
          <a:prstGeom prst="roundRect">
            <a:avLst>
              <a:gd name="adj" fmla="val 18182"/>
            </a:avLst>
          </a:prstGeom>
          <a:solidFill>
            <a:srgbClr val="20808D"/>
          </a:solidFill>
          <a:ln/>
        </p:spPr>
      </p:sp>
      <p:sp>
        <p:nvSpPr>
          <p:cNvPr id="20" name="Text 18"/>
          <p:cNvSpPr/>
          <p:nvPr/>
        </p:nvSpPr>
        <p:spPr>
          <a:xfrm>
            <a:off x="7830021" y="25603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$15.7B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583680" y="31089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2030E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178040" y="3127248"/>
            <a:ext cx="999691" cy="201168"/>
          </a:xfrm>
          <a:prstGeom prst="roundRect">
            <a:avLst>
              <a:gd name="adj" fmla="val 18182"/>
            </a:avLst>
          </a:prstGeom>
          <a:solidFill>
            <a:srgbClr val="20808D"/>
          </a:solidFill>
          <a:ln/>
        </p:spPr>
      </p:sp>
      <p:sp>
        <p:nvSpPr>
          <p:cNvPr id="23" name="Text 21"/>
          <p:cNvSpPr/>
          <p:nvPr/>
        </p:nvSpPr>
        <p:spPr>
          <a:xfrm>
            <a:off x="8269171" y="31089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$28B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583680" y="3657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2036E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178040" y="3675888"/>
            <a:ext cx="1645920" cy="201168"/>
          </a:xfrm>
          <a:prstGeom prst="roundRect">
            <a:avLst>
              <a:gd name="adj" fmla="val 18182"/>
            </a:avLst>
          </a:prstGeom>
          <a:solidFill>
            <a:srgbClr val="20808D"/>
          </a:solidFill>
          <a:ln/>
        </p:spPr>
      </p:sp>
      <p:sp>
        <p:nvSpPr>
          <p:cNvPr id="26" name="Text 24"/>
          <p:cNvSpPr/>
          <p:nvPr/>
        </p:nvSpPr>
        <p:spPr>
          <a:xfrm>
            <a:off x="8915400" y="3657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$46.1B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Source: </a:t>
            </a:r>
            <a:pPr indent="0" marL="0">
              <a:buNone/>
            </a:pPr>
            <a:r>
              <a:rPr lang="en-US" sz="800" u="sng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Future Market Insights</a:t>
            </a:r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, </a:t>
            </a:r>
            <a:pPr indent="0" marL="0">
              <a:buNone/>
            </a:pPr>
            <a:r>
              <a:rPr lang="en-US" sz="800" u="sng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Cellebrite 2026 Industry Report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2/14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Duopoly Big Tech Cannot Enter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structural barriers make digital forensics the only enterprise software market where Big Tech is permanently blocked.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3840480" cy="1463040"/>
          </a:xfrm>
          <a:prstGeom prst="roundRect">
            <a:avLst>
              <a:gd name="adj" fmla="val 6250"/>
            </a:avLst>
          </a:prstGeom>
          <a:solidFill>
            <a:srgbClr val="0C4E54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4630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ZERO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822960" y="20574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vendor displacements across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government contracts over 3 years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417320"/>
            <a:ext cx="4023360" cy="1463040"/>
          </a:xfrm>
          <a:prstGeom prst="roundRect">
            <a:avLst>
              <a:gd name="adj" fmla="val 6250"/>
            </a:avLst>
          </a:prstGeom>
          <a:solidFill>
            <a:srgbClr val="0C4E54"/>
          </a:solidFill>
          <a:ln/>
        </p:spPr>
      </p:sp>
      <p:sp>
        <p:nvSpPr>
          <p:cNvPr id="8" name="Text 6"/>
          <p:cNvSpPr/>
          <p:nvPr/>
        </p:nvSpPr>
        <p:spPr>
          <a:xfrm>
            <a:off x="4937760" y="14630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D1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8.7x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6217920" y="15087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Ratio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37760" y="21031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Cellebrite $60.2M vs. Magnet $6.9M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72% wallet share in all dual-vendor agencies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306324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1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Conflict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377440" y="306324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Forensic tools exploit OS vulnerabilities Apple/Google spend billions to fix. Apple sued NSO Group.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7406640" y="30632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37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Permanent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40080" y="3392424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1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Reputational Risk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377440" y="3392424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NSO Pegasus scandal made "surveillance tools" toxic for ESG-conscious multinationals.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406640" y="339242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37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Permanent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40080" y="3721608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1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Controls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377440" y="3721608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Wassenaar Arrangement favors Israel's liberalized regime over U.S. multinationals.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406640" y="372160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1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Decaying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40080" y="405079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1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Size Floor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377440" y="405079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forensics TAM ~$5B today. Big Tech ignores markets below $10-20B.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406640" y="405079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37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Permanent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40080" y="4379976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1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Talent Concentration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377440" y="437997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of Israeli cybersec founders are Unit 8200 alumni. 25-year head start.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406640" y="437997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1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Slowly decaying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Source: </a:t>
            </a:r>
            <a:pPr indent="0" marL="0">
              <a:buNone/>
            </a:pPr>
            <a:r>
              <a:rPr lang="en-US" sz="800" u="sng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Procurement Analysis (64 contracts)</a:t>
            </a:r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, </a:t>
            </a:r>
            <a:pPr indent="0" marL="0">
              <a:buNone/>
            </a:pPr>
            <a:r>
              <a:rPr lang="en-US" sz="800" u="sng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Apple v. NSO Group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3/14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Platform Is the Moat, Not the Device Unlock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640080" y="1097280"/>
            <a:ext cx="256032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097280"/>
            <a:ext cx="2560320" cy="457200"/>
          </a:xfrm>
          <a:prstGeom prst="rect">
            <a:avLst/>
          </a:prstGeom>
          <a:solidFill>
            <a:srgbClr val="20808D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11556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WEDGE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77240" y="1335024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Access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77240" y="16916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point for 7,000 customer entities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77240" y="21945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~45% of current ARR and declining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474720" y="1097280"/>
            <a:ext cx="256032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74720" y="1097280"/>
            <a:ext cx="2560320" cy="457200"/>
          </a:xfrm>
          <a:prstGeom prst="rect">
            <a:avLst/>
          </a:prstGeom>
          <a:solidFill>
            <a:srgbClr val="01696F"/>
          </a:solidFill>
          <a:ln/>
        </p:spPr>
      </p:sp>
      <p:sp>
        <p:nvSpPr>
          <p:cNvPr id="11" name="Text 9"/>
          <p:cNvSpPr/>
          <p:nvPr/>
        </p:nvSpPr>
        <p:spPr>
          <a:xfrm>
            <a:off x="3611880" y="111556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PLATFORM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11880" y="1335024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Inseyets + Guardian + Pathfinder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11880" y="16916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 ARR uplift per Inseyets conversion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611880" y="21945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Guardian: 100%+ growth, 6 quarters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309360" y="1097280"/>
            <a:ext cx="256032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09360" y="1097280"/>
            <a:ext cx="2560320" cy="457200"/>
          </a:xfrm>
          <a:prstGeom prst="rect">
            <a:avLst/>
          </a:prstGeom>
          <a:solidFill>
            <a:srgbClr val="0C4E54"/>
          </a:solidFill>
          <a:ln/>
        </p:spPr>
      </p:sp>
      <p:sp>
        <p:nvSpPr>
          <p:cNvPr id="17" name="Text 15"/>
          <p:cNvSpPr/>
          <p:nvPr/>
        </p:nvSpPr>
        <p:spPr>
          <a:xfrm>
            <a:off x="6446520" y="111556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LOCK-IN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46520" y="1335024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+ Data + Brand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446520" y="16916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$228K/yr savings at major PD (Nucleus)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446520" y="21945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"Cellebrite" used as a verb in LE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063240" y="1920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5897880" y="1920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640080" y="3657600"/>
            <a:ext cx="813816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370332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55% of installed base converted to Inseyets (target: 80%+)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22960" y="3941064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Higher-growth products grew 2.5x faster than overall business in FY2025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22960" y="417880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Platform products now 14% of ARR, targeting 20% by end 2026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Source: </a:t>
            </a:r>
            <a:pPr indent="0" marL="0">
              <a:buNone/>
            </a:pPr>
            <a:r>
              <a:rPr lang="en-US" sz="800" u="sng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Morgan Stanley Conference (Mar 2026)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4/14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SaaS Transformation Is Inflecting, Not Plateauing</a:t>
            </a:r>
            <a:endParaRPr lang="en-US" sz="2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05840"/>
          <a:ext cx="73152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097280"/>
                <a:gridCol w="1097280"/>
                <a:gridCol w="1097280"/>
                <a:gridCol w="109728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696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FY2022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696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FY2023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696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696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696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FY2026E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696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($M)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$565-571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ARR ($M)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$396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$567-573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ARR Growth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+18-19%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Sub. % of Rev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~91%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Gross Margin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~85%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Adj. EBITDA Margin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26-27%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FCF ($M) / Margin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 / 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$97 / 30%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$124 / 31%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$160 / 34%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30%+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NRR*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FEB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40080" y="327355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FFF8E7"/>
          </a:solidFill>
          <a:ln w="10160">
            <a:solidFill>
              <a:srgbClr val="D1990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22960" y="329184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*NRR 130% → 116% is a denominator effect, not churn.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822960" y="3520440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ARR grew 2.6x ($187M → $481M) while absolute expansion dollars increased ($68M → $85M). Gross retention is 91% improving to 93%. Same churn rate, bigger denominator = lower NRR %.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640080" y="4023360"/>
            <a:ext cx="3840480" cy="502920"/>
          </a:xfrm>
          <a:prstGeom prst="roundRect">
            <a:avLst>
              <a:gd name="adj" fmla="val 14545"/>
            </a:avLst>
          </a:prstGeom>
          <a:solidFill>
            <a:srgbClr val="01696F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4050792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FCF grew 11x in 3 years: $14M → $160M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754880" y="4023360"/>
            <a:ext cx="4023360" cy="502920"/>
          </a:xfrm>
          <a:prstGeom prst="roundRect">
            <a:avLst>
              <a:gd name="adj" fmla="val 14545"/>
            </a:avLst>
          </a:prstGeom>
          <a:solidFill>
            <a:srgbClr val="0C4E54"/>
          </a:solidFill>
          <a:ln/>
        </p:spPr>
      </p:sp>
      <p:sp>
        <p:nvSpPr>
          <p:cNvPr id="10" name="Text 7"/>
          <p:cNvSpPr/>
          <p:nvPr/>
        </p:nvSpPr>
        <p:spPr>
          <a:xfrm>
            <a:off x="4937760" y="405079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SaaS/cloud ARR grew 50%+ YoY, now 22% of total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Source: </a:t>
            </a:r>
            <a:pPr indent="0" marL="0">
              <a:buNone/>
            </a:pPr>
            <a:r>
              <a:rPr lang="en-US" sz="800" u="sng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Cellebrite Q4 2025 PR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5/14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 Catalysts in the Next Six Months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"buy now, catalysts ahead" thesis with verifiable milestones.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40080" y="1325880"/>
            <a:ext cx="8138160" cy="960120"/>
          </a:xfrm>
          <a:prstGeom prst="roundRect">
            <a:avLst>
              <a:gd name="adj" fmla="val 7619"/>
            </a:avLst>
          </a:prstGeom>
          <a:solidFill>
            <a:srgbClr val="0C4E54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463040"/>
            <a:ext cx="502920" cy="502920"/>
          </a:xfrm>
          <a:prstGeom prst="ellipse">
            <a:avLst/>
          </a:prstGeom>
          <a:solidFill>
            <a:srgbClr val="01696F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63040" y="1399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FedRAMP High ATO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97680" y="139903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1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Q1-Q2 2026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0" y="139903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Step-change (20%+)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463040" y="1673352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DOJ sponsorship confirmed. Unlocks Guardian + cloud for entire U.S. federal market. Even if delayed to H2 2026, state/local (grew 19%) and EMEA (grew 24%) sustain growth independently.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463040" y="1947672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D1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for: Official ATO announcement + federal ARR growth &gt;15%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40080" y="2423160"/>
            <a:ext cx="8138160" cy="960120"/>
          </a:xfrm>
          <a:prstGeom prst="roundRect">
            <a:avLst>
              <a:gd name="adj" fmla="val 7619"/>
            </a:avLst>
          </a:prstGeom>
          <a:solidFill>
            <a:srgbClr val="0C4E54"/>
          </a:solidFill>
          <a:ln/>
        </p:spPr>
      </p:sp>
      <p:sp>
        <p:nvSpPr>
          <p:cNvPr id="13" name="Shape 11"/>
          <p:cNvSpPr/>
          <p:nvPr/>
        </p:nvSpPr>
        <p:spPr>
          <a:xfrm>
            <a:off x="777240" y="2560320"/>
            <a:ext cx="502920" cy="502920"/>
          </a:xfrm>
          <a:prstGeom prst="ellipse">
            <a:avLst/>
          </a:prstGeom>
          <a:solidFill>
            <a:srgbClr val="01696F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2560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63040" y="24963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Q1 Earnings: Federal Recovery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297680" y="249631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1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2026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0" y="249631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 (10-20%)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463040" y="2770632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Guided Q1 ARR $491-493M (+20-21%). Federal unit expected to exceed company growth rate after flat FY2025.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463040" y="3044952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D1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for: Federal ARR growth above company average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40080" y="3520440"/>
            <a:ext cx="8138160" cy="960120"/>
          </a:xfrm>
          <a:prstGeom prst="roundRect">
            <a:avLst>
              <a:gd name="adj" fmla="val 7619"/>
            </a:avLst>
          </a:prstGeom>
          <a:solidFill>
            <a:srgbClr val="0C4E54"/>
          </a:solidFill>
          <a:ln/>
        </p:spPr>
      </p:sp>
      <p:sp>
        <p:nvSpPr>
          <p:cNvPr id="21" name="Shape 19"/>
          <p:cNvSpPr/>
          <p:nvPr/>
        </p:nvSpPr>
        <p:spPr>
          <a:xfrm>
            <a:off x="777240" y="3657600"/>
            <a:ext cx="502920" cy="502920"/>
          </a:xfrm>
          <a:prstGeom prst="ellipse">
            <a:avLst/>
          </a:prstGeom>
          <a:solidFill>
            <a:srgbClr val="01696F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3657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463040" y="35935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Genesis AI Monetization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297680" y="35935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1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Q2-Q3 2026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486400" y="35935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Minor + narrative shift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463040" y="3867912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platform launched March 16, 2026. Zero AI revenue in FY2026 guidance = pure upside to consensus.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463040" y="4142232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D1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for: Genesis customer count and ARR at Q2 earnings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40080" y="443484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monitoring: Sell-side coverage expansion (MS conference Mar 2026)  |  Defense prime acquisition interest (free option at $3.5B)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6/14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54% Upside With Credible Downside Containment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640080" y="1051560"/>
            <a:ext cx="2606040" cy="2148840"/>
          </a:xfrm>
          <a:prstGeom prst="roundRect">
            <a:avLst>
              <a:gd name="adj" fmla="val 4255"/>
            </a:avLst>
          </a:prstGeom>
          <a:solidFill>
            <a:srgbClr val="EBF5E3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0972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37A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BULL CASE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77240" y="1325880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Probability: 25%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77240" y="15544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437A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$27.69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777240" y="210312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+98%  |  41% 2yr IRR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" y="24231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FY2027E Rev: $691M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EV/Revenue: 10.0x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520440" y="1051560"/>
            <a:ext cx="2606040" cy="2148840"/>
          </a:xfrm>
          <a:prstGeom prst="roundRect">
            <a:avLst>
              <a:gd name="adj" fmla="val 4255"/>
            </a:avLst>
          </a:prstGeom>
          <a:solidFill>
            <a:srgbClr val="E4F0F1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0" y="10972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CASE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657600" y="1325880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Probability: 55%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657600" y="15544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$22.75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3657600" y="210312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+63%  |  27% 2yr IRR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657600" y="24231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FY2027E Rev: $668M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EV/Revenue: 8.5x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400800" y="1051560"/>
            <a:ext cx="2606040" cy="2148840"/>
          </a:xfrm>
          <a:prstGeom prst="roundRect">
            <a:avLst>
              <a:gd name="adj" fmla="val 4255"/>
            </a:avLst>
          </a:prstGeom>
          <a:solidFill>
            <a:srgbClr val="F5E8EB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37960" y="10972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135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BEAR CASE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537960" y="1325880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Probability: 20%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537960" y="15544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A135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$10.62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6537960" y="210312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-24%  |  -13% 2yr IRR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537960" y="24231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FY2027E Rev: $623M</a:t>
            </a:r>
            <a:endParaRPr lang="en-US" sz="9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EV/Revenue: 4.0x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40080" y="3429000"/>
            <a:ext cx="8138160" cy="777240"/>
          </a:xfrm>
          <a:prstGeom prst="roundRect">
            <a:avLst>
              <a:gd name="adj" fmla="val 11765"/>
            </a:avLst>
          </a:prstGeom>
          <a:solidFill>
            <a:srgbClr val="01696F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34564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PROBABILITY-WEIGHTED TARGET: $21.56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822960" y="3794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1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54% UPSIDE  |  24% 2-YEAR IRR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486400" y="3493008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 at $10.62 models real pain: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 growth + 4x terminal.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Asymmetry: 2.7x more upside than downside.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Source: </a:t>
            </a:r>
            <a:pPr indent="0" marL="0">
              <a:buNone/>
            </a:pPr>
            <a:r>
              <a:rPr lang="en-US" sz="800" u="sng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Perplexity Finance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7/14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DCF Valuation: $13.32 Floor Confirms Downside Protection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 DCF establishes a valuation floor at the current price — the market gives you the platform premium for free.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WACC BUILD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53312"/>
          <a:ext cx="32004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05840"/>
              </a:tblGrid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Risk-Free Rate (10yr UST)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Equity Risk Premium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Beta (small-cap gov-tech)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 Premium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 Country Risk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169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WACC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169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1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27889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TERMINAL</a:t>
            </a:r>
            <a:endParaRPr lang="en-US" sz="11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044952"/>
          <a:ext cx="32004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05840"/>
              </a:tblGrid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 Growth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Rationale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GDP 2.5% + Inflation 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 FCF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$356M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169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 Value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169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$3,701M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169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Implied EV/FCF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169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3931920" y="109728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PROJECTED FCF (BASE CASE)</a:t>
            </a:r>
            <a:endParaRPr lang="en-US" sz="1100" dirty="0"/>
          </a:p>
        </p:txBody>
      </p:sp>
      <p:graphicFrame>
        <p:nvGraphicFramePr>
          <p:cNvPr id="2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31920" y="1353312"/>
          <a:ext cx="47548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731520"/>
                <a:gridCol w="731520"/>
                <a:gridCol w="731520"/>
                <a:gridCol w="731520"/>
                <a:gridCol w="731520"/>
              </a:tblGrid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696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FY26E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696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FY27E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696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FY28E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696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FY29E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696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FY30E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696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($M)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$1,043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FCF Margin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FCF ($M)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$344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Disc. Factor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169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PV of FCF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169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169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169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$173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169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169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1"/>
                    </a:solidFill>
                  </a:tcPr>
                </a:tc>
              </a:tr>
            </a:tbl>
          </a:graphicData>
        </a:graphic>
      </p:graphicFrame>
      <p:sp>
        <p:nvSpPr>
          <p:cNvPr id="10" name="Text 5"/>
          <p:cNvSpPr/>
          <p:nvPr/>
        </p:nvSpPr>
        <p:spPr>
          <a:xfrm>
            <a:off x="3931920" y="306324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 BRIDGE</a:t>
            </a:r>
            <a:endParaRPr lang="en-US" sz="1100" dirty="0"/>
          </a:p>
        </p:txBody>
      </p:sp>
      <p:graphicFrame>
        <p:nvGraphicFramePr>
          <p:cNvPr id="33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31920" y="3319272"/>
          <a:ext cx="32004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</a:tblGrid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PV of Projected FCFs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$864M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2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PV of Terminal Value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$1,998M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169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Enterprise Value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169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$2,861M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1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+Net Cash (FY2025)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+$535M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169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Implied Equity Value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169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$3,396M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1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÷ Diluted Shares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DCF Implied Price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696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$13.32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696F"/>
                    </a:solidFill>
                  </a:tcPr>
                </a:tc>
              </a:tr>
            </a:tbl>
          </a:graphicData>
        </a:graphic>
      </p:graphicFrame>
      <p:sp>
        <p:nvSpPr>
          <p:cNvPr id="12" name="Shape 6"/>
          <p:cNvSpPr/>
          <p:nvPr/>
        </p:nvSpPr>
        <p:spPr>
          <a:xfrm>
            <a:off x="457200" y="4645152"/>
            <a:ext cx="8229600" cy="365760"/>
          </a:xfrm>
          <a:prstGeom prst="roundRect">
            <a:avLst>
              <a:gd name="adj" fmla="val 15000"/>
            </a:avLst>
          </a:prstGeom>
          <a:solidFill>
            <a:srgbClr val="01696F"/>
          </a:solidFill>
          <a:ln/>
        </p:spPr>
      </p:sp>
      <p:sp>
        <p:nvSpPr>
          <p:cNvPr id="13" name="Text 7"/>
          <p:cNvSpPr/>
          <p:nvPr/>
        </p:nvSpPr>
        <p:spPr>
          <a:xfrm>
            <a:off x="640080" y="4663440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$14, CLBT trades at DCF fair value. The market assigns ZERO premium for platform lock-in, zero competitive losses, and Big Tech barriers.</a:t>
            </a:r>
            <a:endParaRPr lang="en-US" sz="1000" dirty="0"/>
          </a:p>
        </p:txBody>
      </p:sp>
      <p:sp>
        <p:nvSpPr>
          <p:cNvPr id="14" name="Text 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8/14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Would Make Us Wrong — and Why We Think It Won't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40080" y="1051560"/>
            <a:ext cx="813816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09728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Apple/Google restrict forensic access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120640" y="10972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1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L: Medium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035040" y="10972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13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I: High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" y="13716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vendors affected simultaneously (industry, not competitive). Platform products are 55%+ of ARR. Spring 2026 covers iPhone 17/iOS 26.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40080" y="1938528"/>
            <a:ext cx="813816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984248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NRR declines below 110%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120640" y="198424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1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L: Medium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035040" y="198424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13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I: High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225856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91% gross retention improving to 93%. Decline is a denominator effect: base grew 2.6x. Q4 2025 net-new ARR back to prior-year levels.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40080" y="2825496"/>
            <a:ext cx="813816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2871216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Federal freeze extends through FY2027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120640" y="2871216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1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L: Medium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035040" y="2871216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1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I: Medium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22960" y="314553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Federal is ~30% of ARR. State/local grew 19%, EMEA 24%, APAC 23% in FY2025 even as federal was flat.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40080" y="3712464"/>
            <a:ext cx="813816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3758184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SBC dilution exceeds 7% annually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120640" y="3758184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37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L: Low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035040" y="3758184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1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I: Medium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22960" y="403250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9.4% SBC/revenue is the lowest in comp set (VEEV 16%, AXON 23%). Thesis holds at 7% dilution with 15%+ IRR.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40080" y="461772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Conviction: HIGH  |  Target: $21.56  |  Upside: 54%  |  2-Year IRR: 24%  |  BUY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9/14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 A: The NRR Decline Is a Denominator Story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640080" y="1005840"/>
            <a:ext cx="393192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0972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FY2021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15087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ARR (base)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926080" y="15087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$137M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19476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926080" y="194767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13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-$19M (9%)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238658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926080" y="23865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37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+$68M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28254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Ending ARR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926080" y="2825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$187M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22960" y="326440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NRR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926080" y="326440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137%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2960" y="365760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base = high NRR %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937760" y="1005840"/>
            <a:ext cx="393192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20640" y="10972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FY2025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120640" y="15087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ARR (base)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223760" y="15087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$396M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120640" y="19476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223760" y="194767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13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-$36M (9%)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120640" y="238658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223760" y="23865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37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+$85M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120640" y="28254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Ending ARR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223760" y="2825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$481M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120640" y="326440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NRR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223760" y="326440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116%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120640" y="365760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2.6x larger base = lower NRR % despite MORE absolute expansion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40080" y="420624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Same churn rate (9%), growing absolute expansion. NRR % declines mechanically as the base scales.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10/14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These Sensitivity Variables — and Not Others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68580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tested every major input. These four survived because they create the widest valuation spread with the least correlated assumptions.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1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VARIABLES SELECTED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3931920" cy="621792"/>
          </a:xfrm>
          <a:prstGeom prst="roundRect">
            <a:avLst>
              <a:gd name="adj" fmla="val 8824"/>
            </a:avLst>
          </a:prstGeom>
          <a:solidFill>
            <a:srgbClr val="0C4E54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408176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1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CAGR (12-24%)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00400" y="140817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1, x-axis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94360" y="1609344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value driver at 84% gross margin. Every incremental dollar flows to profit. A 1pp change in CAGR shifts FY2030 revenue by ~$50M and implied price by ~$1.50.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2084832"/>
            <a:ext cx="3931920" cy="621792"/>
          </a:xfrm>
          <a:prstGeom prst="roundRect">
            <a:avLst>
              <a:gd name="adj" fmla="val 8824"/>
            </a:avLst>
          </a:prstGeom>
          <a:solidFill>
            <a:srgbClr val="0C4E54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2121408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1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EV/Revenue (5-11x)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200400" y="212140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1, y-axis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94360" y="2322576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uncertain input. Captures whether the market reclassifies CLBT from 'gov contractor' (5x) to 'vertical SaaS platform' (11x). Our entire thesis is this re-rating.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57200" y="2798064"/>
            <a:ext cx="3931920" cy="621792"/>
          </a:xfrm>
          <a:prstGeom prst="roundRect">
            <a:avLst>
              <a:gd name="adj" fmla="val 8824"/>
            </a:avLst>
          </a:prstGeom>
          <a:solidFill>
            <a:srgbClr val="0C4E54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28346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1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FCF Margin (28-35%)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200400" y="283464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2, x-axis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94360" y="3035808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shareholders actually receive. Unlike EBITDA, FCF accounts for capex and working capital. Tests whether the 34% margin is durable or compressed by SBC, R&amp;D, or FX.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57200" y="3511296"/>
            <a:ext cx="3931920" cy="621792"/>
          </a:xfrm>
          <a:prstGeom prst="roundRect">
            <a:avLst>
              <a:gd name="adj" fmla="val 8824"/>
            </a:avLst>
          </a:prstGeom>
          <a:solidFill>
            <a:srgbClr val="0C4E54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" y="3547872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1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Dilution (3-9%)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200400" y="354787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CE2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2, y-axis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594360" y="3749040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hidden tax on FCF growth. Shares grew 6% in FY2025. At 7%+ dilution with 15% FCF growth, per-share value creation stalls. Forces the #1 risk bulls ignore into view.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663440" y="105156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1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CONSIDERED AND EXCLUDED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663440" y="1371600"/>
            <a:ext cx="4114800" cy="493776"/>
          </a:xfrm>
          <a:prstGeom prst="roundRect">
            <a:avLst>
              <a:gd name="adj" fmla="val 11111"/>
            </a:avLst>
          </a:prstGeom>
          <a:solidFill>
            <a:srgbClr val="1C2A36"/>
          </a:solidFill>
          <a:ln w="6350">
            <a:solidFill>
              <a:srgbClr val="2A3A4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00600" y="1408176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A13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WACC / Discount Rate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800600" y="159105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DCF is our floor-check, not primary framework. WACC sensitivity is mechanical and doesn't test a thesis-specific assumption.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663440" y="1938528"/>
            <a:ext cx="4114800" cy="493776"/>
          </a:xfrm>
          <a:prstGeom prst="roundRect">
            <a:avLst>
              <a:gd name="adj" fmla="val 11111"/>
            </a:avLst>
          </a:prstGeom>
          <a:solidFill>
            <a:srgbClr val="1C2A36"/>
          </a:solidFill>
          <a:ln w="6350">
            <a:solidFill>
              <a:srgbClr val="2A3A4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0600" y="1975104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A13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Gross Margin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800600" y="2157984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at 81-84% for 4 years. A structural feature, not a variable. Stressing it adds noise without insight.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4663440" y="2505456"/>
            <a:ext cx="4114800" cy="493776"/>
          </a:xfrm>
          <a:prstGeom prst="roundRect">
            <a:avLst>
              <a:gd name="adj" fmla="val 11111"/>
            </a:avLst>
          </a:prstGeom>
          <a:solidFill>
            <a:srgbClr val="1C2A36"/>
          </a:solidFill>
          <a:ln w="6350">
            <a:solidFill>
              <a:srgbClr val="2A3A4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00600" y="2542032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A13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NRR / Net Retention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800600" y="2724912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of expansion + churn, not independent input. Already captured through revenue CAGR and FCF margin. Separate treatment would double-count.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663440" y="3072384"/>
            <a:ext cx="4114800" cy="493776"/>
          </a:xfrm>
          <a:prstGeom prst="roundRect">
            <a:avLst>
              <a:gd name="adj" fmla="val 11111"/>
            </a:avLst>
          </a:prstGeom>
          <a:solidFill>
            <a:srgbClr val="1C2A36"/>
          </a:solidFill>
          <a:ln w="6350">
            <a:solidFill>
              <a:srgbClr val="2A3A4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00600" y="310896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A13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FedRAMP Timing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800600" y="329184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(achieved/delayed), not continuous. Addressed qualitatively on slide 6 with the slip qualifier.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4663440" y="3639312"/>
            <a:ext cx="4114800" cy="493776"/>
          </a:xfrm>
          <a:prstGeom prst="roundRect">
            <a:avLst>
              <a:gd name="adj" fmla="val 11111"/>
            </a:avLst>
          </a:prstGeom>
          <a:solidFill>
            <a:srgbClr val="1C2A36"/>
          </a:solidFill>
          <a:ln w="6350">
            <a:solidFill>
              <a:srgbClr val="2A3A4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00600" y="3675888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A13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Competitive Share Loss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800600" y="385876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displacement in 64 contracts. No historical data to calibrate. Would manifest as revenue CAGR deceleration, which Table 1 captures at the 12% floor.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457200" y="452628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01696F"/>
          </a:solidFill>
          <a:ln/>
        </p:spPr>
      </p:sp>
      <p:sp>
        <p:nvSpPr>
          <p:cNvPr id="38" name="Text 36"/>
          <p:cNvSpPr/>
          <p:nvPr/>
        </p:nvSpPr>
        <p:spPr>
          <a:xfrm>
            <a:off x="640080" y="4553712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principle: Table 1 tests value creation (growth × multiple). Table 2 tests value capture (cash ÷ dilution). Together they answer: does the company create value, and do shareholders receive it?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 B: Sensitivity Analysis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1: Implied Share Price = (FY2026 Rev × (1+CAGR)⁴ × EV/Rev Multiple + $400M cash) ÷ 310M diluted shares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88720"/>
          <a:ext cx="50292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  <a:gridCol w="1005840"/>
                <a:gridCol w="100584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 CAGR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696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696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696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696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696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$15.71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8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$21.48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$27.24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$33.01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$17.32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$23.73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$30.14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$36.55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$19.05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$26.16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$33.27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$40.37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$20.93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$28.79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$36.64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$44.50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E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$22.95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$31.62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$40.28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$48.95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2926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2: FY2030 FCF/Share = (FY2030 Base Rev $1,043M × FCF Margin) ÷ (250M shares × (1+Dilution)⁵)</a:t>
            </a:r>
            <a:endParaRPr lang="en-US" sz="1100" dirty="0"/>
          </a:p>
        </p:txBody>
      </p:sp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246120"/>
          <a:ext cx="50292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  <a:gridCol w="1005840"/>
                <a:gridCol w="100584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Dilution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696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696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696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696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696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E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$0.92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$0.95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8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$0.95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640080" y="4526280"/>
            <a:ext cx="8138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 (green) | Base (teal) | Bear (red). Starting revenue: $568M (FY2026E). Shares assume 5% annual dilution in Table 1. At $14, the market implies &lt;10% CAGR at &lt;4x — below every cell above.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12/14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 C: Comparable Company Analysis</a:t>
            </a:r>
            <a:endParaRPr lang="en-US" sz="2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68680"/>
          <a:ext cx="8595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731520"/>
                <a:gridCol w="731520"/>
                <a:gridCol w="777240"/>
                <a:gridCol w="731520"/>
                <a:gridCol w="731520"/>
                <a:gridCol w="731520"/>
                <a:gridCol w="685800"/>
                <a:gridCol w="82296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696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CLBT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696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VEEV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696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696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VRNS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696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696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FTNT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696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CGNT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696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Median*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696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EV/LTM Rev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16.2x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 Growth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2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Gross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FCF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2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SBC/Revenue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 of 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4D1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640080" y="3154680"/>
            <a:ext cx="8138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*Median excludes Palantir (93.4x EV/Sales) as a narrative-driven outlier. Including PLTR would inflate the median to ~15x and misrepresent the relevant peer universe for a $3.5B-cap company.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640080" y="35661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CLBT ranks above peer median on growth, margins, and SBC efficiency. Below median only on EV/Sales — the mispricing.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640080" y="3977640"/>
            <a:ext cx="81381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22960" y="40233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Implied Valuation: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NTM Rev $568M × 8.1x = $4.6B EV + $535M cash ÷ 255M shares = </a:t>
            </a:r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$20.03/share at median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|  With 12.5% premium = </a:t>
            </a:r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$22.27/share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Source: </a:t>
            </a:r>
            <a:pPr indent="0" marL="0">
              <a:buNone/>
            </a:pPr>
            <a:r>
              <a:rPr lang="en-US" sz="800" u="sng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Perplexity Finance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13/14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 D: DCF vs. Comps Convergence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DCF and comps frameworks bracket a $13-$22 range. At $14, you buy at the floor and get the moat for free.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93192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188720"/>
            <a:ext cx="3931920" cy="384048"/>
          </a:xfrm>
          <a:prstGeom prst="rect">
            <a:avLst/>
          </a:prstGeom>
          <a:solidFill>
            <a:srgbClr val="0C4E54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20700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DCF: INTRINSIC VALUE FLOOR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16916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C4E5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$13.32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94360" y="224028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WACC: 13.1% (punitive: 2% size premium + 0.5% Israel risk)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253288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Terminal growth: 3.5% (well below 11.4% industry CAGR)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94360" y="282549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Terminal EV/FCF: 10.8x (below where Veeva/Tyler trade)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311810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Deliberately does NOT capture the platform premium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94360" y="341071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Reducing size premium to 1% lifts price to ~$15.50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754880" y="1188720"/>
            <a:ext cx="393192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6350">
            <a:solidFill>
              <a:srgbClr val="D4D1C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754880" y="1188720"/>
            <a:ext cx="3931920" cy="384048"/>
          </a:xfrm>
          <a:prstGeom prst="rect">
            <a:avLst/>
          </a:prstGeom>
          <a:solidFill>
            <a:srgbClr val="01696F"/>
          </a:solidFill>
          <a:ln/>
        </p:spPr>
      </p:sp>
      <p:sp>
        <p:nvSpPr>
          <p:cNvPr id="15" name="Text 13"/>
          <p:cNvSpPr/>
          <p:nvPr/>
        </p:nvSpPr>
        <p:spPr>
          <a:xfrm>
            <a:off x="4892040" y="120700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COMPS: MARKET-BASED TARGET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2040" y="16916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$22.27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4892040" y="224028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Peer median EV/NTM Rev: 8.1x (6 comps excl. PLTR)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892040" y="253288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12.5% premium for Rule of 40 leadership (53 vs. 36)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82549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Adjusted multiple: 9.1x × $568M = $5.2B EV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892040" y="311810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Plus $535M cash ÷ 255M diluted shares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41071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CLBT beats peers on every metric except EV/Sales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57200" y="411480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01696F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4142232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$9 gap between DCF ($13) and Comps ($22) = the platform premium the market is not paying for. At $14, the entire moat is free.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14/14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2026-04-08T21:43:27Z</dcterms:created>
  <dcterms:modified xsi:type="dcterms:W3CDTF">2026-04-08T21:43:27Z</dcterms:modified>
</cp:coreProperties>
</file>